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6" r:id="rId4"/>
  </p:sldMasterIdLst>
  <p:notesMasterIdLst>
    <p:notesMasterId r:id="rId31"/>
  </p:notesMasterIdLst>
  <p:handoutMasterIdLst>
    <p:handoutMasterId r:id="rId32"/>
  </p:handoutMasterIdLst>
  <p:sldIdLst>
    <p:sldId id="334" r:id="rId5"/>
    <p:sldId id="316" r:id="rId6"/>
    <p:sldId id="337" r:id="rId7"/>
    <p:sldId id="350" r:id="rId8"/>
    <p:sldId id="353" r:id="rId9"/>
    <p:sldId id="356" r:id="rId10"/>
    <p:sldId id="342" r:id="rId11"/>
    <p:sldId id="357" r:id="rId12"/>
    <p:sldId id="354" r:id="rId13"/>
    <p:sldId id="355" r:id="rId14"/>
    <p:sldId id="351" r:id="rId15"/>
    <p:sldId id="352" r:id="rId16"/>
    <p:sldId id="324" r:id="rId17"/>
    <p:sldId id="336" r:id="rId18"/>
    <p:sldId id="346" r:id="rId19"/>
    <p:sldId id="358" r:id="rId20"/>
    <p:sldId id="359" r:id="rId21"/>
    <p:sldId id="331" r:id="rId22"/>
    <p:sldId id="360" r:id="rId23"/>
    <p:sldId id="345" r:id="rId24"/>
    <p:sldId id="361" r:id="rId25"/>
    <p:sldId id="362" r:id="rId26"/>
    <p:sldId id="363" r:id="rId27"/>
    <p:sldId id="364" r:id="rId28"/>
    <p:sldId id="365" r:id="rId29"/>
    <p:sldId id="349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4" autoAdjust="0"/>
    <p:restoredTop sz="84967" autoAdjust="0"/>
  </p:normalViewPr>
  <p:slideViewPr>
    <p:cSldViewPr snapToGrid="0">
      <p:cViewPr>
        <p:scale>
          <a:sx n="60" d="100"/>
          <a:sy n="60" d="100"/>
        </p:scale>
        <p:origin x="2538" y="1188"/>
      </p:cViewPr>
      <p:guideLst>
        <p:guide orient="horz" pos="1392"/>
        <p:guide pos="7056"/>
        <p:guide orient="horz" pos="3168"/>
      </p:guideLst>
    </p:cSldViewPr>
  </p:slideViewPr>
  <p:outlineViewPr>
    <p:cViewPr>
      <p:scale>
        <a:sx n="33" d="100"/>
        <a:sy n="33" d="100"/>
      </p:scale>
      <p:origin x="0" y="-110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37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A2D4EB7-4D33-482F-9B8C-07D98AD8105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572C751-A176-4C05-A206-31E6EA50232C}">
      <dgm:prSet/>
      <dgm:spPr/>
      <dgm:t>
        <a:bodyPr/>
        <a:lstStyle/>
        <a:p>
          <a:r>
            <a:rPr lang="en-US"/>
            <a:t>Filters the dataset to include only predictor variables and the target </a:t>
          </a:r>
          <a:r>
            <a:rPr lang="en-US" b="1"/>
            <a:t>IRCIGFM</a:t>
          </a:r>
          <a:endParaRPr lang="en-US"/>
        </a:p>
      </dgm:t>
    </dgm:pt>
    <dgm:pt modelId="{719CE460-251F-4457-B58E-BA0D1DEDE383}" type="parTrans" cxnId="{45E447E4-4390-4D72-A99A-A2A4BA6C200F}">
      <dgm:prSet/>
      <dgm:spPr/>
      <dgm:t>
        <a:bodyPr/>
        <a:lstStyle/>
        <a:p>
          <a:endParaRPr lang="en-US"/>
        </a:p>
      </dgm:t>
    </dgm:pt>
    <dgm:pt modelId="{0AEB1D7A-4505-4378-AEF4-400315F93D28}" type="sibTrans" cxnId="{45E447E4-4390-4D72-A99A-A2A4BA6C200F}">
      <dgm:prSet/>
      <dgm:spPr/>
      <dgm:t>
        <a:bodyPr/>
        <a:lstStyle/>
        <a:p>
          <a:endParaRPr lang="en-US"/>
        </a:p>
      </dgm:t>
    </dgm:pt>
    <dgm:pt modelId="{5AEF9C8E-CA6D-4F63-993D-6DE78D820B38}">
      <dgm:prSet/>
      <dgm:spPr/>
      <dgm:t>
        <a:bodyPr/>
        <a:lstStyle/>
        <a:p>
          <a:r>
            <a:rPr lang="en-US"/>
            <a:t>Keeps only classes of </a:t>
          </a:r>
          <a:r>
            <a:rPr lang="en-US" b="1"/>
            <a:t>IRCIGFM</a:t>
          </a:r>
          <a:r>
            <a:rPr lang="en-US"/>
            <a:t> that have at least 2 samples to ensure model stability</a:t>
          </a:r>
        </a:p>
      </dgm:t>
    </dgm:pt>
    <dgm:pt modelId="{3EE7DCC6-5257-4546-A3B2-0802A8996869}" type="parTrans" cxnId="{A8CCF276-9EBD-4CCB-BBC5-E00BEBE28A8A}">
      <dgm:prSet/>
      <dgm:spPr/>
      <dgm:t>
        <a:bodyPr/>
        <a:lstStyle/>
        <a:p>
          <a:endParaRPr lang="en-US"/>
        </a:p>
      </dgm:t>
    </dgm:pt>
    <dgm:pt modelId="{0EAB0136-EB6D-4910-BB24-4AA125CAB905}" type="sibTrans" cxnId="{A8CCF276-9EBD-4CCB-BBC5-E00BEBE28A8A}">
      <dgm:prSet/>
      <dgm:spPr/>
      <dgm:t>
        <a:bodyPr/>
        <a:lstStyle/>
        <a:p>
          <a:endParaRPr lang="en-US"/>
        </a:p>
      </dgm:t>
    </dgm:pt>
    <dgm:pt modelId="{DA64D2A3-EA9D-4349-90B7-6FA237CFA8F3}">
      <dgm:prSet/>
      <dgm:spPr/>
      <dgm:t>
        <a:bodyPr/>
        <a:lstStyle/>
        <a:p>
          <a:r>
            <a:rPr lang="en-US"/>
            <a:t>Selects the top </a:t>
          </a:r>
          <a:r>
            <a:rPr lang="en-US" b="1"/>
            <a:t>10 most important features</a:t>
          </a:r>
          <a:endParaRPr lang="en-US"/>
        </a:p>
      </dgm:t>
    </dgm:pt>
    <dgm:pt modelId="{8C5729EA-DCC8-4B58-993E-E1B6E1DF2B3D}" type="parTrans" cxnId="{E00AC983-07E3-45FA-8766-5269961CCD2A}">
      <dgm:prSet/>
      <dgm:spPr/>
      <dgm:t>
        <a:bodyPr/>
        <a:lstStyle/>
        <a:p>
          <a:endParaRPr lang="en-US"/>
        </a:p>
      </dgm:t>
    </dgm:pt>
    <dgm:pt modelId="{DC684CCB-75E1-4AE1-9343-6E5D7C310014}" type="sibTrans" cxnId="{E00AC983-07E3-45FA-8766-5269961CCD2A}">
      <dgm:prSet/>
      <dgm:spPr/>
      <dgm:t>
        <a:bodyPr/>
        <a:lstStyle/>
        <a:p>
          <a:endParaRPr lang="en-US"/>
        </a:p>
      </dgm:t>
    </dgm:pt>
    <dgm:pt modelId="{43C3432E-35A6-4EA9-BE16-E52094F650C5}">
      <dgm:prSet/>
      <dgm:spPr/>
      <dgm:t>
        <a:bodyPr/>
        <a:lstStyle/>
        <a:p>
          <a:r>
            <a:rPr lang="en-US"/>
            <a:t>A grid of hyperparameters to tune with GridSearchCV</a:t>
          </a:r>
        </a:p>
      </dgm:t>
    </dgm:pt>
    <dgm:pt modelId="{F44A4A8B-790A-44A6-BCBA-399E17FFF519}" type="parTrans" cxnId="{F0CD628C-3181-4458-BE0B-B8CE69164D56}">
      <dgm:prSet/>
      <dgm:spPr/>
      <dgm:t>
        <a:bodyPr/>
        <a:lstStyle/>
        <a:p>
          <a:endParaRPr lang="en-US"/>
        </a:p>
      </dgm:t>
    </dgm:pt>
    <dgm:pt modelId="{5162F33C-5DBD-4039-ABFE-F88B86DD06FF}" type="sibTrans" cxnId="{F0CD628C-3181-4458-BE0B-B8CE69164D56}">
      <dgm:prSet/>
      <dgm:spPr/>
      <dgm:t>
        <a:bodyPr/>
        <a:lstStyle/>
        <a:p>
          <a:endParaRPr lang="en-US"/>
        </a:p>
      </dgm:t>
    </dgm:pt>
    <dgm:pt modelId="{B75148B9-E8A7-4330-BBAD-13FB5CD6101F}">
      <dgm:prSet/>
      <dgm:spPr/>
      <dgm:t>
        <a:bodyPr/>
        <a:lstStyle/>
        <a:p>
          <a:r>
            <a:rPr lang="en-US"/>
            <a:t>Decision Tree, Random Forest, Gradient Boosting</a:t>
          </a:r>
        </a:p>
      </dgm:t>
    </dgm:pt>
    <dgm:pt modelId="{958BCB8A-3DC2-4B22-A6C0-61C70B763392}" type="parTrans" cxnId="{1ED2436F-4CBB-4F1E-8307-F6160DE7F2B4}">
      <dgm:prSet/>
      <dgm:spPr/>
      <dgm:t>
        <a:bodyPr/>
        <a:lstStyle/>
        <a:p>
          <a:endParaRPr lang="en-US"/>
        </a:p>
      </dgm:t>
    </dgm:pt>
    <dgm:pt modelId="{3FD2B237-4E66-454D-840B-A4D6B67903FC}" type="sibTrans" cxnId="{1ED2436F-4CBB-4F1E-8307-F6160DE7F2B4}">
      <dgm:prSet/>
      <dgm:spPr/>
      <dgm:t>
        <a:bodyPr/>
        <a:lstStyle/>
        <a:p>
          <a:endParaRPr lang="en-US"/>
        </a:p>
      </dgm:t>
    </dgm:pt>
    <dgm:pt modelId="{D61E469E-544E-4218-8BA3-AB041626735B}" type="pres">
      <dgm:prSet presAssocID="{BA2D4EB7-4D33-482F-9B8C-07D98AD8105D}" presName="linear" presStyleCnt="0">
        <dgm:presLayoutVars>
          <dgm:animLvl val="lvl"/>
          <dgm:resizeHandles val="exact"/>
        </dgm:presLayoutVars>
      </dgm:prSet>
      <dgm:spPr/>
    </dgm:pt>
    <dgm:pt modelId="{6B700678-F4F1-4FA9-BAB1-22BEBBAF081E}" type="pres">
      <dgm:prSet presAssocID="{7572C751-A176-4C05-A206-31E6EA50232C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5CF41C05-EA20-4552-8ED7-5A8B1161CA76}" type="pres">
      <dgm:prSet presAssocID="{0AEB1D7A-4505-4378-AEF4-400315F93D28}" presName="spacer" presStyleCnt="0"/>
      <dgm:spPr/>
    </dgm:pt>
    <dgm:pt modelId="{73CF4B9B-BE18-41F7-97FB-05B3B48471C8}" type="pres">
      <dgm:prSet presAssocID="{5AEF9C8E-CA6D-4F63-993D-6DE78D820B38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2F8E8428-DE05-4557-8243-B3076909E9F2}" type="pres">
      <dgm:prSet presAssocID="{0EAB0136-EB6D-4910-BB24-4AA125CAB905}" presName="spacer" presStyleCnt="0"/>
      <dgm:spPr/>
    </dgm:pt>
    <dgm:pt modelId="{F11A9D92-8B72-48CD-A257-6BE0998A5568}" type="pres">
      <dgm:prSet presAssocID="{DA64D2A3-EA9D-4349-90B7-6FA237CFA8F3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E725F23E-A4CB-46D8-BC1A-66466B96BDAF}" type="pres">
      <dgm:prSet presAssocID="{DC684CCB-75E1-4AE1-9343-6E5D7C310014}" presName="spacer" presStyleCnt="0"/>
      <dgm:spPr/>
    </dgm:pt>
    <dgm:pt modelId="{D35297A3-7CF7-41FD-8583-267DC207861F}" type="pres">
      <dgm:prSet presAssocID="{43C3432E-35A6-4EA9-BE16-E52094F650C5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90D92D57-1D56-4CA1-B065-44589A510D28}" type="pres">
      <dgm:prSet presAssocID="{5162F33C-5DBD-4039-ABFE-F88B86DD06FF}" presName="spacer" presStyleCnt="0"/>
      <dgm:spPr/>
    </dgm:pt>
    <dgm:pt modelId="{7629AE71-AD67-49B4-B80B-BAD48019CD49}" type="pres">
      <dgm:prSet presAssocID="{B75148B9-E8A7-4330-BBAD-13FB5CD6101F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6782552A-E7B2-4406-8980-700C92C0AF79}" type="presOf" srcId="{43C3432E-35A6-4EA9-BE16-E52094F650C5}" destId="{D35297A3-7CF7-41FD-8583-267DC207861F}" srcOrd="0" destOrd="0" presId="urn:microsoft.com/office/officeart/2005/8/layout/vList2"/>
    <dgm:cxn modelId="{EFA9626A-4F90-454E-9EED-5E78D39390BE}" type="presOf" srcId="{5AEF9C8E-CA6D-4F63-993D-6DE78D820B38}" destId="{73CF4B9B-BE18-41F7-97FB-05B3B48471C8}" srcOrd="0" destOrd="0" presId="urn:microsoft.com/office/officeart/2005/8/layout/vList2"/>
    <dgm:cxn modelId="{1ED2436F-4CBB-4F1E-8307-F6160DE7F2B4}" srcId="{BA2D4EB7-4D33-482F-9B8C-07D98AD8105D}" destId="{B75148B9-E8A7-4330-BBAD-13FB5CD6101F}" srcOrd="4" destOrd="0" parTransId="{958BCB8A-3DC2-4B22-A6C0-61C70B763392}" sibTransId="{3FD2B237-4E66-454D-840B-A4D6B67903FC}"/>
    <dgm:cxn modelId="{A8CCF276-9EBD-4CCB-BBC5-E00BEBE28A8A}" srcId="{BA2D4EB7-4D33-482F-9B8C-07D98AD8105D}" destId="{5AEF9C8E-CA6D-4F63-993D-6DE78D820B38}" srcOrd="1" destOrd="0" parTransId="{3EE7DCC6-5257-4546-A3B2-0802A8996869}" sibTransId="{0EAB0136-EB6D-4910-BB24-4AA125CAB905}"/>
    <dgm:cxn modelId="{9E7EC077-ADAC-4E43-99D5-FB63B37B2B2F}" type="presOf" srcId="{7572C751-A176-4C05-A206-31E6EA50232C}" destId="{6B700678-F4F1-4FA9-BAB1-22BEBBAF081E}" srcOrd="0" destOrd="0" presId="urn:microsoft.com/office/officeart/2005/8/layout/vList2"/>
    <dgm:cxn modelId="{E00AC983-07E3-45FA-8766-5269961CCD2A}" srcId="{BA2D4EB7-4D33-482F-9B8C-07D98AD8105D}" destId="{DA64D2A3-EA9D-4349-90B7-6FA237CFA8F3}" srcOrd="2" destOrd="0" parTransId="{8C5729EA-DCC8-4B58-993E-E1B6E1DF2B3D}" sibTransId="{DC684CCB-75E1-4AE1-9343-6E5D7C310014}"/>
    <dgm:cxn modelId="{F0CD628C-3181-4458-BE0B-B8CE69164D56}" srcId="{BA2D4EB7-4D33-482F-9B8C-07D98AD8105D}" destId="{43C3432E-35A6-4EA9-BE16-E52094F650C5}" srcOrd="3" destOrd="0" parTransId="{F44A4A8B-790A-44A6-BCBA-399E17FFF519}" sibTransId="{5162F33C-5DBD-4039-ABFE-F88B86DD06FF}"/>
    <dgm:cxn modelId="{8312CDA2-46C0-4FC0-8102-83F4A1A3B07F}" type="presOf" srcId="{BA2D4EB7-4D33-482F-9B8C-07D98AD8105D}" destId="{D61E469E-544E-4218-8BA3-AB041626735B}" srcOrd="0" destOrd="0" presId="urn:microsoft.com/office/officeart/2005/8/layout/vList2"/>
    <dgm:cxn modelId="{2F1C2DB4-E6D6-4E3B-BD06-8CC17FBF99CE}" type="presOf" srcId="{DA64D2A3-EA9D-4349-90B7-6FA237CFA8F3}" destId="{F11A9D92-8B72-48CD-A257-6BE0998A5568}" srcOrd="0" destOrd="0" presId="urn:microsoft.com/office/officeart/2005/8/layout/vList2"/>
    <dgm:cxn modelId="{45E447E4-4390-4D72-A99A-A2A4BA6C200F}" srcId="{BA2D4EB7-4D33-482F-9B8C-07D98AD8105D}" destId="{7572C751-A176-4C05-A206-31E6EA50232C}" srcOrd="0" destOrd="0" parTransId="{719CE460-251F-4457-B58E-BA0D1DEDE383}" sibTransId="{0AEB1D7A-4505-4378-AEF4-400315F93D28}"/>
    <dgm:cxn modelId="{FD2496F8-7D35-4FEC-A003-788CEB11F09B}" type="presOf" srcId="{B75148B9-E8A7-4330-BBAD-13FB5CD6101F}" destId="{7629AE71-AD67-49B4-B80B-BAD48019CD49}" srcOrd="0" destOrd="0" presId="urn:microsoft.com/office/officeart/2005/8/layout/vList2"/>
    <dgm:cxn modelId="{3CDB18A5-40E1-42EA-863A-BF5D47B13C8A}" type="presParOf" srcId="{D61E469E-544E-4218-8BA3-AB041626735B}" destId="{6B700678-F4F1-4FA9-BAB1-22BEBBAF081E}" srcOrd="0" destOrd="0" presId="urn:microsoft.com/office/officeart/2005/8/layout/vList2"/>
    <dgm:cxn modelId="{622488C3-7962-4A63-9A11-C332D09DF9B5}" type="presParOf" srcId="{D61E469E-544E-4218-8BA3-AB041626735B}" destId="{5CF41C05-EA20-4552-8ED7-5A8B1161CA76}" srcOrd="1" destOrd="0" presId="urn:microsoft.com/office/officeart/2005/8/layout/vList2"/>
    <dgm:cxn modelId="{D3701F0F-B3D2-488F-963B-E38904FBB187}" type="presParOf" srcId="{D61E469E-544E-4218-8BA3-AB041626735B}" destId="{73CF4B9B-BE18-41F7-97FB-05B3B48471C8}" srcOrd="2" destOrd="0" presId="urn:microsoft.com/office/officeart/2005/8/layout/vList2"/>
    <dgm:cxn modelId="{7EE66FA2-20E3-42DC-AA13-58896146422A}" type="presParOf" srcId="{D61E469E-544E-4218-8BA3-AB041626735B}" destId="{2F8E8428-DE05-4557-8243-B3076909E9F2}" srcOrd="3" destOrd="0" presId="urn:microsoft.com/office/officeart/2005/8/layout/vList2"/>
    <dgm:cxn modelId="{0C3A5C41-F1F0-4F83-9672-19081D595410}" type="presParOf" srcId="{D61E469E-544E-4218-8BA3-AB041626735B}" destId="{F11A9D92-8B72-48CD-A257-6BE0998A5568}" srcOrd="4" destOrd="0" presId="urn:microsoft.com/office/officeart/2005/8/layout/vList2"/>
    <dgm:cxn modelId="{56CF77FB-8B1C-4573-8A11-945B1B5120C7}" type="presParOf" srcId="{D61E469E-544E-4218-8BA3-AB041626735B}" destId="{E725F23E-A4CB-46D8-BC1A-66466B96BDAF}" srcOrd="5" destOrd="0" presId="urn:microsoft.com/office/officeart/2005/8/layout/vList2"/>
    <dgm:cxn modelId="{FD6AE53C-60DB-46BF-9188-AB9E68F4A4DD}" type="presParOf" srcId="{D61E469E-544E-4218-8BA3-AB041626735B}" destId="{D35297A3-7CF7-41FD-8583-267DC207861F}" srcOrd="6" destOrd="0" presId="urn:microsoft.com/office/officeart/2005/8/layout/vList2"/>
    <dgm:cxn modelId="{1E816844-050D-46C1-81A1-0931D7785B2F}" type="presParOf" srcId="{D61E469E-544E-4218-8BA3-AB041626735B}" destId="{90D92D57-1D56-4CA1-B065-44589A510D28}" srcOrd="7" destOrd="0" presId="urn:microsoft.com/office/officeart/2005/8/layout/vList2"/>
    <dgm:cxn modelId="{A18824AD-DA4A-4E95-9AAD-9F2B82C7811C}" type="presParOf" srcId="{D61E469E-544E-4218-8BA3-AB041626735B}" destId="{7629AE71-AD67-49B4-B80B-BAD48019CD49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487AA57-D9CC-4A1D-8A33-E4AD57B2FC9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15FEF7A-8CD9-4341-BF03-036005332B00}">
      <dgm:prSet/>
      <dgm:spPr/>
      <dgm:t>
        <a:bodyPr/>
        <a:lstStyle/>
        <a:p>
          <a:r>
            <a:rPr lang="en-US"/>
            <a:t>Goal: Clean the dataset by handling special codes and missing values.</a:t>
          </a:r>
        </a:p>
      </dgm:t>
    </dgm:pt>
    <dgm:pt modelId="{9DC83572-7638-48B5-A527-8AC00FA1E95C}" type="parTrans" cxnId="{24B26906-100D-40AE-881D-706822C5A04F}">
      <dgm:prSet/>
      <dgm:spPr/>
      <dgm:t>
        <a:bodyPr/>
        <a:lstStyle/>
        <a:p>
          <a:endParaRPr lang="en-US"/>
        </a:p>
      </dgm:t>
    </dgm:pt>
    <dgm:pt modelId="{AA157105-49D7-44D3-AB8C-9055A2BCABF3}" type="sibTrans" cxnId="{24B26906-100D-40AE-881D-706822C5A04F}">
      <dgm:prSet/>
      <dgm:spPr/>
      <dgm:t>
        <a:bodyPr/>
        <a:lstStyle/>
        <a:p>
          <a:endParaRPr lang="en-US"/>
        </a:p>
      </dgm:t>
    </dgm:pt>
    <dgm:pt modelId="{532C669A-72E1-4F97-ABAE-B95966E6582C}">
      <dgm:prSet/>
      <dgm:spPr/>
      <dgm:t>
        <a:bodyPr/>
        <a:lstStyle/>
        <a:p>
          <a:r>
            <a:rPr lang="en-US" dirty="0"/>
            <a:t>Number of days youth smoked in the past month.</a:t>
          </a:r>
        </a:p>
      </dgm:t>
    </dgm:pt>
    <dgm:pt modelId="{50EA593E-1783-4C05-A953-E90E509E4DAC}" type="parTrans" cxnId="{17097133-96C8-456D-A3C5-A3B36D907F21}">
      <dgm:prSet/>
      <dgm:spPr/>
      <dgm:t>
        <a:bodyPr/>
        <a:lstStyle/>
        <a:p>
          <a:endParaRPr lang="en-US"/>
        </a:p>
      </dgm:t>
    </dgm:pt>
    <dgm:pt modelId="{54A0C3D4-55F4-475E-A6E8-B947EB372B21}" type="sibTrans" cxnId="{17097133-96C8-456D-A3C5-A3B36D907F21}">
      <dgm:prSet/>
      <dgm:spPr/>
      <dgm:t>
        <a:bodyPr/>
        <a:lstStyle/>
        <a:p>
          <a:endParaRPr lang="en-US"/>
        </a:p>
      </dgm:t>
    </dgm:pt>
    <dgm:pt modelId="{416B0F64-84DA-47B4-B489-C85A340B964B}">
      <dgm:prSet/>
      <dgm:spPr/>
      <dgm:t>
        <a:bodyPr/>
        <a:lstStyle/>
        <a:p>
          <a:r>
            <a:rPr lang="en-US"/>
            <a:t>A grid of hyperparameters to tune with GridSearchCV</a:t>
          </a:r>
        </a:p>
      </dgm:t>
    </dgm:pt>
    <dgm:pt modelId="{8316EC9A-9058-49CE-835B-47E1D010FD0D}" type="parTrans" cxnId="{3C417B51-3DB7-40DD-AA33-44CB973D3A56}">
      <dgm:prSet/>
      <dgm:spPr/>
      <dgm:t>
        <a:bodyPr/>
        <a:lstStyle/>
        <a:p>
          <a:endParaRPr lang="en-US"/>
        </a:p>
      </dgm:t>
    </dgm:pt>
    <dgm:pt modelId="{0C05982D-E1D8-403B-9586-E318A9F1AE0E}" type="sibTrans" cxnId="{3C417B51-3DB7-40DD-AA33-44CB973D3A56}">
      <dgm:prSet/>
      <dgm:spPr/>
      <dgm:t>
        <a:bodyPr/>
        <a:lstStyle/>
        <a:p>
          <a:endParaRPr lang="en-US"/>
        </a:p>
      </dgm:t>
    </dgm:pt>
    <dgm:pt modelId="{4DC4D54B-CF60-4FF0-A61F-78406CF790BA}">
      <dgm:prSet/>
      <dgm:spPr/>
      <dgm:t>
        <a:bodyPr/>
        <a:lstStyle/>
        <a:p>
          <a:r>
            <a:rPr lang="en-US"/>
            <a:t>Decision Tree, Random Forest, Gradient Boosting</a:t>
          </a:r>
        </a:p>
      </dgm:t>
    </dgm:pt>
    <dgm:pt modelId="{66BAC712-18A2-4A28-A41E-A260EBA6A8AE}" type="parTrans" cxnId="{F1658384-99E2-47A9-B880-B4901598A867}">
      <dgm:prSet/>
      <dgm:spPr/>
      <dgm:t>
        <a:bodyPr/>
        <a:lstStyle/>
        <a:p>
          <a:endParaRPr lang="en-US"/>
        </a:p>
      </dgm:t>
    </dgm:pt>
    <dgm:pt modelId="{10CA8AA4-6C86-4FAB-95CA-D172CECFAE7E}" type="sibTrans" cxnId="{F1658384-99E2-47A9-B880-B4901598A867}">
      <dgm:prSet/>
      <dgm:spPr/>
      <dgm:t>
        <a:bodyPr/>
        <a:lstStyle/>
        <a:p>
          <a:endParaRPr lang="en-US"/>
        </a:p>
      </dgm:t>
    </dgm:pt>
    <dgm:pt modelId="{10AB9200-3392-4DF0-AA78-5E50E21E3B5E}" type="pres">
      <dgm:prSet presAssocID="{0487AA57-D9CC-4A1D-8A33-E4AD57B2FC9C}" presName="linear" presStyleCnt="0">
        <dgm:presLayoutVars>
          <dgm:animLvl val="lvl"/>
          <dgm:resizeHandles val="exact"/>
        </dgm:presLayoutVars>
      </dgm:prSet>
      <dgm:spPr/>
    </dgm:pt>
    <dgm:pt modelId="{A977B0D4-06B6-4A61-A974-FE96DCFF8057}" type="pres">
      <dgm:prSet presAssocID="{E15FEF7A-8CD9-4341-BF03-036005332B0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3CAA59B-5910-411C-9112-2958D976AE46}" type="pres">
      <dgm:prSet presAssocID="{AA157105-49D7-44D3-AB8C-9055A2BCABF3}" presName="spacer" presStyleCnt="0"/>
      <dgm:spPr/>
    </dgm:pt>
    <dgm:pt modelId="{AFE887AF-A54B-4A35-92BF-79AB30CE7AE3}" type="pres">
      <dgm:prSet presAssocID="{532C669A-72E1-4F97-ABAE-B95966E6582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D3BB2B2-278A-4542-B178-02D1366C1552}" type="pres">
      <dgm:prSet presAssocID="{54A0C3D4-55F4-475E-A6E8-B947EB372B21}" presName="spacer" presStyleCnt="0"/>
      <dgm:spPr/>
    </dgm:pt>
    <dgm:pt modelId="{A59D09E6-DEB8-4EBA-8643-E72B61D4F974}" type="pres">
      <dgm:prSet presAssocID="{416B0F64-84DA-47B4-B489-C85A340B964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F67115E-5B9D-45F6-98F2-8E4792AA8D0C}" type="pres">
      <dgm:prSet presAssocID="{0C05982D-E1D8-403B-9586-E318A9F1AE0E}" presName="spacer" presStyleCnt="0"/>
      <dgm:spPr/>
    </dgm:pt>
    <dgm:pt modelId="{3825F3AD-5314-44FB-8711-5A26F0D867C1}" type="pres">
      <dgm:prSet presAssocID="{4DC4D54B-CF60-4FF0-A61F-78406CF790B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BBDEB05-F6AF-4E7B-AE19-909C62D5324E}" type="presOf" srcId="{532C669A-72E1-4F97-ABAE-B95966E6582C}" destId="{AFE887AF-A54B-4A35-92BF-79AB30CE7AE3}" srcOrd="0" destOrd="0" presId="urn:microsoft.com/office/officeart/2005/8/layout/vList2"/>
    <dgm:cxn modelId="{24B26906-100D-40AE-881D-706822C5A04F}" srcId="{0487AA57-D9CC-4A1D-8A33-E4AD57B2FC9C}" destId="{E15FEF7A-8CD9-4341-BF03-036005332B00}" srcOrd="0" destOrd="0" parTransId="{9DC83572-7638-48B5-A527-8AC00FA1E95C}" sibTransId="{AA157105-49D7-44D3-AB8C-9055A2BCABF3}"/>
    <dgm:cxn modelId="{70A82F24-5483-4294-A005-7F9E942DC83F}" type="presOf" srcId="{0487AA57-D9CC-4A1D-8A33-E4AD57B2FC9C}" destId="{10AB9200-3392-4DF0-AA78-5E50E21E3B5E}" srcOrd="0" destOrd="0" presId="urn:microsoft.com/office/officeart/2005/8/layout/vList2"/>
    <dgm:cxn modelId="{17097133-96C8-456D-A3C5-A3B36D907F21}" srcId="{0487AA57-D9CC-4A1D-8A33-E4AD57B2FC9C}" destId="{532C669A-72E1-4F97-ABAE-B95966E6582C}" srcOrd="1" destOrd="0" parTransId="{50EA593E-1783-4C05-A953-E90E509E4DAC}" sibTransId="{54A0C3D4-55F4-475E-A6E8-B947EB372B21}"/>
    <dgm:cxn modelId="{7638A664-F64D-4EA7-91D1-5BA8795DD152}" type="presOf" srcId="{416B0F64-84DA-47B4-B489-C85A340B964B}" destId="{A59D09E6-DEB8-4EBA-8643-E72B61D4F974}" srcOrd="0" destOrd="0" presId="urn:microsoft.com/office/officeart/2005/8/layout/vList2"/>
    <dgm:cxn modelId="{3C417B51-3DB7-40DD-AA33-44CB973D3A56}" srcId="{0487AA57-D9CC-4A1D-8A33-E4AD57B2FC9C}" destId="{416B0F64-84DA-47B4-B489-C85A340B964B}" srcOrd="2" destOrd="0" parTransId="{8316EC9A-9058-49CE-835B-47E1D010FD0D}" sibTransId="{0C05982D-E1D8-403B-9586-E318A9F1AE0E}"/>
    <dgm:cxn modelId="{F1658384-99E2-47A9-B880-B4901598A867}" srcId="{0487AA57-D9CC-4A1D-8A33-E4AD57B2FC9C}" destId="{4DC4D54B-CF60-4FF0-A61F-78406CF790BA}" srcOrd="3" destOrd="0" parTransId="{66BAC712-18A2-4A28-A41E-A260EBA6A8AE}" sibTransId="{10CA8AA4-6C86-4FAB-95CA-D172CECFAE7E}"/>
    <dgm:cxn modelId="{DA8ADE8B-CE0A-45DA-8EE6-144747BFB85C}" type="presOf" srcId="{4DC4D54B-CF60-4FF0-A61F-78406CF790BA}" destId="{3825F3AD-5314-44FB-8711-5A26F0D867C1}" srcOrd="0" destOrd="0" presId="urn:microsoft.com/office/officeart/2005/8/layout/vList2"/>
    <dgm:cxn modelId="{141388B5-DC1D-4AC5-80DA-083C5A3BFE9A}" type="presOf" srcId="{E15FEF7A-8CD9-4341-BF03-036005332B00}" destId="{A977B0D4-06B6-4A61-A974-FE96DCFF8057}" srcOrd="0" destOrd="0" presId="urn:microsoft.com/office/officeart/2005/8/layout/vList2"/>
    <dgm:cxn modelId="{85396A0A-89C1-4376-ADF1-86DCC1F7B96E}" type="presParOf" srcId="{10AB9200-3392-4DF0-AA78-5E50E21E3B5E}" destId="{A977B0D4-06B6-4A61-A974-FE96DCFF8057}" srcOrd="0" destOrd="0" presId="urn:microsoft.com/office/officeart/2005/8/layout/vList2"/>
    <dgm:cxn modelId="{7CECEA44-2A60-40BD-AFE3-F8BBFE6D02B5}" type="presParOf" srcId="{10AB9200-3392-4DF0-AA78-5E50E21E3B5E}" destId="{B3CAA59B-5910-411C-9112-2958D976AE46}" srcOrd="1" destOrd="0" presId="urn:microsoft.com/office/officeart/2005/8/layout/vList2"/>
    <dgm:cxn modelId="{FC40936F-D28E-4CCF-98B7-CEEC8596997F}" type="presParOf" srcId="{10AB9200-3392-4DF0-AA78-5E50E21E3B5E}" destId="{AFE887AF-A54B-4A35-92BF-79AB30CE7AE3}" srcOrd="2" destOrd="0" presId="urn:microsoft.com/office/officeart/2005/8/layout/vList2"/>
    <dgm:cxn modelId="{107DDE5C-6717-4E97-9CD3-18BE7BE7A2B2}" type="presParOf" srcId="{10AB9200-3392-4DF0-AA78-5E50E21E3B5E}" destId="{1D3BB2B2-278A-4542-B178-02D1366C1552}" srcOrd="3" destOrd="0" presId="urn:microsoft.com/office/officeart/2005/8/layout/vList2"/>
    <dgm:cxn modelId="{BB6A2E3F-1488-4452-842F-DF8C2A4F988A}" type="presParOf" srcId="{10AB9200-3392-4DF0-AA78-5E50E21E3B5E}" destId="{A59D09E6-DEB8-4EBA-8643-E72B61D4F974}" srcOrd="4" destOrd="0" presId="urn:microsoft.com/office/officeart/2005/8/layout/vList2"/>
    <dgm:cxn modelId="{6015A3C3-E7D1-494A-8A22-BE8A3FAE5158}" type="presParOf" srcId="{10AB9200-3392-4DF0-AA78-5E50E21E3B5E}" destId="{EF67115E-5B9D-45F6-98F2-8E4792AA8D0C}" srcOrd="5" destOrd="0" presId="urn:microsoft.com/office/officeart/2005/8/layout/vList2"/>
    <dgm:cxn modelId="{48F08ABA-E604-4667-B83C-C590074F1835}" type="presParOf" srcId="{10AB9200-3392-4DF0-AA78-5E50E21E3B5E}" destId="{3825F3AD-5314-44FB-8711-5A26F0D867C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700678-F4F1-4FA9-BAB1-22BEBBAF081E}">
      <dsp:nvSpPr>
        <dsp:cNvPr id="0" name=""/>
        <dsp:cNvSpPr/>
      </dsp:nvSpPr>
      <dsp:spPr>
        <a:xfrm>
          <a:off x="0" y="260732"/>
          <a:ext cx="10374152" cy="491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Filters the dataset to include only predictor variables and the target </a:t>
          </a:r>
          <a:r>
            <a:rPr lang="en-US" sz="2000" b="1" kern="1200"/>
            <a:t>IRCIGFM</a:t>
          </a:r>
          <a:endParaRPr lang="en-US" sz="2000" kern="1200"/>
        </a:p>
      </dsp:txBody>
      <dsp:txXfrm>
        <a:off x="23988" y="284720"/>
        <a:ext cx="10326176" cy="443424"/>
      </dsp:txXfrm>
    </dsp:sp>
    <dsp:sp modelId="{73CF4B9B-BE18-41F7-97FB-05B3B48471C8}">
      <dsp:nvSpPr>
        <dsp:cNvPr id="0" name=""/>
        <dsp:cNvSpPr/>
      </dsp:nvSpPr>
      <dsp:spPr>
        <a:xfrm>
          <a:off x="0" y="809732"/>
          <a:ext cx="10374152" cy="491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Keeps only classes of </a:t>
          </a:r>
          <a:r>
            <a:rPr lang="en-US" sz="2000" b="1" kern="1200"/>
            <a:t>IRCIGFM</a:t>
          </a:r>
          <a:r>
            <a:rPr lang="en-US" sz="2000" kern="1200"/>
            <a:t> that have at least 2 samples to ensure model stability</a:t>
          </a:r>
        </a:p>
      </dsp:txBody>
      <dsp:txXfrm>
        <a:off x="23988" y="833720"/>
        <a:ext cx="10326176" cy="443424"/>
      </dsp:txXfrm>
    </dsp:sp>
    <dsp:sp modelId="{F11A9D92-8B72-48CD-A257-6BE0998A5568}">
      <dsp:nvSpPr>
        <dsp:cNvPr id="0" name=""/>
        <dsp:cNvSpPr/>
      </dsp:nvSpPr>
      <dsp:spPr>
        <a:xfrm>
          <a:off x="0" y="1358733"/>
          <a:ext cx="10374152" cy="491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Selects the top </a:t>
          </a:r>
          <a:r>
            <a:rPr lang="en-US" sz="2000" b="1" kern="1200"/>
            <a:t>10 most important features</a:t>
          </a:r>
          <a:endParaRPr lang="en-US" sz="2000" kern="1200"/>
        </a:p>
      </dsp:txBody>
      <dsp:txXfrm>
        <a:off x="23988" y="1382721"/>
        <a:ext cx="10326176" cy="443424"/>
      </dsp:txXfrm>
    </dsp:sp>
    <dsp:sp modelId="{D35297A3-7CF7-41FD-8583-267DC207861F}">
      <dsp:nvSpPr>
        <dsp:cNvPr id="0" name=""/>
        <dsp:cNvSpPr/>
      </dsp:nvSpPr>
      <dsp:spPr>
        <a:xfrm>
          <a:off x="0" y="1907733"/>
          <a:ext cx="10374152" cy="491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 grid of hyperparameters to tune with GridSearchCV</a:t>
          </a:r>
        </a:p>
      </dsp:txBody>
      <dsp:txXfrm>
        <a:off x="23988" y="1931721"/>
        <a:ext cx="10326176" cy="443424"/>
      </dsp:txXfrm>
    </dsp:sp>
    <dsp:sp modelId="{7629AE71-AD67-49B4-B80B-BAD48019CD49}">
      <dsp:nvSpPr>
        <dsp:cNvPr id="0" name=""/>
        <dsp:cNvSpPr/>
      </dsp:nvSpPr>
      <dsp:spPr>
        <a:xfrm>
          <a:off x="0" y="2456733"/>
          <a:ext cx="10374152" cy="491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Decision Tree, Random Forest, Gradient Boosting</a:t>
          </a:r>
        </a:p>
      </dsp:txBody>
      <dsp:txXfrm>
        <a:off x="23988" y="2480721"/>
        <a:ext cx="10326176" cy="44342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77B0D4-06B6-4A61-A974-FE96DCFF8057}">
      <dsp:nvSpPr>
        <dsp:cNvPr id="0" name=""/>
        <dsp:cNvSpPr/>
      </dsp:nvSpPr>
      <dsp:spPr>
        <a:xfrm>
          <a:off x="0" y="321393"/>
          <a:ext cx="10374152" cy="5896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Goal: Clean the dataset by handling special codes and missing values.</a:t>
          </a:r>
        </a:p>
      </dsp:txBody>
      <dsp:txXfrm>
        <a:off x="28786" y="350179"/>
        <a:ext cx="10316580" cy="532107"/>
      </dsp:txXfrm>
    </dsp:sp>
    <dsp:sp modelId="{AFE887AF-A54B-4A35-92BF-79AB30CE7AE3}">
      <dsp:nvSpPr>
        <dsp:cNvPr id="0" name=""/>
        <dsp:cNvSpPr/>
      </dsp:nvSpPr>
      <dsp:spPr>
        <a:xfrm>
          <a:off x="0" y="980193"/>
          <a:ext cx="10374152" cy="5896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Number of days youth smoked in the past month.</a:t>
          </a:r>
        </a:p>
      </dsp:txBody>
      <dsp:txXfrm>
        <a:off x="28786" y="1008979"/>
        <a:ext cx="10316580" cy="532107"/>
      </dsp:txXfrm>
    </dsp:sp>
    <dsp:sp modelId="{A59D09E6-DEB8-4EBA-8643-E72B61D4F974}">
      <dsp:nvSpPr>
        <dsp:cNvPr id="0" name=""/>
        <dsp:cNvSpPr/>
      </dsp:nvSpPr>
      <dsp:spPr>
        <a:xfrm>
          <a:off x="0" y="1638993"/>
          <a:ext cx="10374152" cy="5896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 grid of hyperparameters to tune with GridSearchCV</a:t>
          </a:r>
        </a:p>
      </dsp:txBody>
      <dsp:txXfrm>
        <a:off x="28786" y="1667779"/>
        <a:ext cx="10316580" cy="532107"/>
      </dsp:txXfrm>
    </dsp:sp>
    <dsp:sp modelId="{3825F3AD-5314-44FB-8711-5A26F0D867C1}">
      <dsp:nvSpPr>
        <dsp:cNvPr id="0" name=""/>
        <dsp:cNvSpPr/>
      </dsp:nvSpPr>
      <dsp:spPr>
        <a:xfrm>
          <a:off x="0" y="2297793"/>
          <a:ext cx="10374152" cy="5896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Decision Tree, Random Forest, Gradient Boosting</a:t>
          </a:r>
        </a:p>
      </dsp:txBody>
      <dsp:txXfrm>
        <a:off x="28786" y="2326579"/>
        <a:ext cx="10316580" cy="5321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0E99E25-5B65-D93A-3010-8B947D67E6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EB28A-33CC-6CF5-1214-F2C3205F67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888634-FBA9-41D6-8B35-EE3A7D816B7C}" type="datetimeFigureOut">
              <a:rPr lang="en-US" smtClean="0"/>
              <a:t>4/12/2025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D63414-6160-FF79-B3F6-CD615625C8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83E93F-BDEC-C5F7-2553-8324882C41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7C78D2-97D1-4B37-BDD1-08A09BD4CA9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1359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A28068-AFBD-4979-B752-9EB6F90B1386}" type="datetimeFigureOut">
              <a:rPr lang="en-US" smtClean="0"/>
              <a:t>4/12/2025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939589-3E79-4C82-AA4A-FE78234FAA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7961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7734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34871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5EB51-F016-98C4-7520-D523525B0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7A879C-F6CE-03D7-C449-13655D9D5A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A1AB0D-6D2A-9D78-7840-FB50105B33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16882F-6FF0-E719-7294-280FB0D7ED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4727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0105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99F92-F8CA-C2BC-9016-BAD30DEC8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3BC56F-C271-CFAE-3685-AAF25FAA38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28CCC8-5274-0B8B-6BE3-FF896A1F9F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AD483A-99AA-C572-3951-5E099327A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41030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9DEC6-2761-E3BA-8DBC-AA037F7AF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F945BE-C65E-1CC7-7CEF-0EBDCE5F2C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981E27-131A-0694-A583-844DF36F80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8A8707-E612-46FA-5706-601156603E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308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7063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5475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98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68F49-7148-B847-9F3D-EB9041B86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1053D1-738C-04E5-5538-903119DD4B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BAF779-B37B-61F6-A193-F960193F61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8FF46C-C933-2058-4A5C-1D2DCA38F2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82462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1674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2307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DD377-1F7E-4FF8-E0F7-6C358F00E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C3EA51-7596-62C5-A293-9D15BACCDF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F02CBA-94CB-4445-61CA-C1D6339096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DD038F-BDCC-DCAB-4814-88DC369E7C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2447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5CFBB-0E02-DF83-F54A-0E43C2354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05337E-9525-BE60-6063-FE0B40C626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40182E-8875-3F9D-E98D-694F09910E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2168CD-072B-9BC4-D22F-54BADBD1BF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94853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C3919-646C-BB14-4B82-02951564A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ECB7D2-8258-A9F9-CEA9-D98E79351C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8D264E-7F00-0882-2074-81474758E6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163C93-8750-97C8-73C0-2A2CA40EAE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44509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364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Slid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 lIns="0" tIns="0" rIns="0" bIns="0" anchor="b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61510" y="2744546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137906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6544" y="614202"/>
            <a:ext cx="5918072" cy="2276856"/>
          </a:xfrm>
        </p:spPr>
        <p:txBody>
          <a:bodyPr lIns="0" tIns="0" rIns="0" bIns="0" anchor="b"/>
          <a:lstStyle>
            <a:lvl1pPr algn="r">
              <a:lnSpc>
                <a:spcPts val="4000"/>
              </a:lnSpc>
              <a:defRPr sz="40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C738AB3-8054-6E21-C34C-36AF3A31AC4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34120D15-E48C-4FBE-BB95-24DB36D9F45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280160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tIns="914400" anchor="t">
            <a:noAutofit/>
          </a:bodyPr>
          <a:lstStyle>
            <a:lvl1pPr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FD1B85-4BEF-C1C1-5619-B82E9E44A9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16548" y="3161752"/>
            <a:ext cx="5918068" cy="3144965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1pPr>
            <a:lvl2pPr marL="4572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2pPr>
            <a:lvl3pPr marL="9144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3pPr>
            <a:lvl4pPr marL="13716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4pPr>
            <a:lvl5pPr marL="1828800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AE7F8D-AE68-4A83-BAB5-3A97D473C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Graphic 12">
            <a:extLst>
              <a:ext uri="{FF2B5EF4-FFF2-40B4-BE49-F238E27FC236}">
                <a16:creationId xmlns:a16="http://schemas.microsoft.com/office/drawing/2014/main" id="{EA1B6985-3E5A-40F4-9268-D4AB3BBF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Graphic 13">
            <a:extLst>
              <a:ext uri="{FF2B5EF4-FFF2-40B4-BE49-F238E27FC236}">
                <a16:creationId xmlns:a16="http://schemas.microsoft.com/office/drawing/2014/main" id="{338BC906-9D03-4280-85E8-21A81BC21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C5C06D53-C9F6-47E8-BFE1-B8193A1AE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52402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E9872E9-2F0D-2FEB-0974-F0BBBC5E033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238999" y="6356350"/>
            <a:ext cx="379561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768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386775"/>
            <a:ext cx="8311102" cy="3080335"/>
          </a:xfrm>
        </p:spPr>
        <p:txBody>
          <a:bodyPr lIns="0" tIns="274320" rIns="0" bIns="0" anchor="t" anchorCtr="0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9670435">
            <a:off x="7632743" y="794953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01D87F51-D69B-9038-0566-4FDC355AB6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97587" y="411831"/>
            <a:ext cx="3521337" cy="3521344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51239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640080"/>
            <a:ext cx="10302240" cy="1852046"/>
          </a:xfrm>
        </p:spPr>
        <p:txBody>
          <a:bodyPr lIns="0" tIns="0" rIns="0" bIns="0" anchor="b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588447"/>
            <a:ext cx="7853678" cy="726645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7659974" y="4456458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5DDB7824-50BA-B12F-AD49-CA8953CA3A0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36252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52645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640080"/>
            <a:ext cx="7498080" cy="1280160"/>
          </a:xfrm>
        </p:spPr>
        <p:txBody>
          <a:bodyPr lIns="0" tIns="0" rIns="0" bIns="0" anchor="b" anchorCtr="0"/>
          <a:lstStyle>
            <a:lvl1pPr>
              <a:defRPr sz="4000" b="1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2376"/>
            <a:ext cx="520991" cy="517379"/>
          </a:xfrm>
        </p:spPr>
        <p:txBody>
          <a:bodyPr anchor="t" anchorCtr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317615" y="895646"/>
            <a:ext cx="1956925" cy="195692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" anchor="t" anchorCtr="0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14800" y="2194560"/>
            <a:ext cx="7498080" cy="402336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>
              <a:defRPr sz="1600"/>
            </a:lvl2pPr>
            <a:lvl3pPr marL="457200">
              <a:defRPr sz="1400"/>
            </a:lvl3pPr>
            <a:lvl4pPr marL="685800">
              <a:defRPr sz="1200"/>
            </a:lvl4pPr>
            <a:lvl5pPr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58B5E78-A531-681D-1312-F21B52D06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70685" y="620661"/>
            <a:ext cx="403448" cy="381782"/>
            <a:chOff x="10969280" y="1780012"/>
            <a:chExt cx="403448" cy="381782"/>
          </a:xfrm>
        </p:grpSpPr>
        <p:sp>
          <p:nvSpPr>
            <p:cNvPr id="17" name="Graphic 10">
              <a:extLst>
                <a:ext uri="{FF2B5EF4-FFF2-40B4-BE49-F238E27FC236}">
                  <a16:creationId xmlns:a16="http://schemas.microsoft.com/office/drawing/2014/main" id="{AAD06B87-D9B2-4F94-B734-A8F039A20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81590" y="2070656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Graphic 11">
              <a:extLst>
                <a:ext uri="{FF2B5EF4-FFF2-40B4-BE49-F238E27FC236}">
                  <a16:creationId xmlns:a16="http://schemas.microsoft.com/office/drawing/2014/main" id="{BB13A13C-36EA-4B13-9175-C5FE95B34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69280" y="1780012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5189CAD3-7011-6481-11F8-05B5CB106F0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B7CB27F-7A56-A747-A4D6-5627C2463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7111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+ Subtitle slid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3383280"/>
            <a:ext cx="10302240" cy="1852046"/>
          </a:xfrm>
        </p:spPr>
        <p:txBody>
          <a:bodyPr lIns="0" tIns="274320" rIns="0" bIns="0" anchor="t" anchorCtr="0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966886"/>
            <a:ext cx="10302237" cy="397191"/>
          </a:xfrm>
        </p:spPr>
        <p:txBody>
          <a:bodyPr lIns="0" tIns="0" rIns="0" bIns="0" anchor="b" anchorCtr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97692" y="620298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7912362-D30D-7B0B-BA94-0993B1EBC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2775857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7644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85800"/>
            <a:ext cx="9137012" cy="1280160"/>
          </a:xfrm>
        </p:spPr>
        <p:txBody>
          <a:bodyPr lIns="0" tIns="0" rIns="0" bIns="0"/>
          <a:lstStyle>
            <a:lvl1pPr>
              <a:defRPr sz="4000" b="1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F91A5DB-A2CA-1D70-9A06-3869A288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2327440"/>
            <a:ext cx="4846320" cy="4040574"/>
          </a:xfrm>
        </p:spPr>
        <p:txBody>
          <a:bodyPr lIns="0" tIns="0" rIns="0" bIns="0">
            <a:normAutofit/>
          </a:bodyPr>
          <a:lstStyle>
            <a:lvl1pPr marL="0" indent="0">
              <a:spcAft>
                <a:spcPts val="0"/>
              </a:spcAft>
              <a:buNone/>
              <a:defRPr sz="1800"/>
            </a:lvl1pPr>
            <a:lvl2pPr marL="228600">
              <a:spcBef>
                <a:spcPts val="1200"/>
              </a:spcBef>
              <a:defRPr sz="1800"/>
            </a:lvl2pPr>
            <a:lvl3pPr marL="685800">
              <a:spcBef>
                <a:spcPts val="1200"/>
              </a:spcBef>
              <a:defRPr sz="1800"/>
            </a:lvl3pPr>
            <a:lvl4pPr marL="1143000">
              <a:spcBef>
                <a:spcPts val="1200"/>
              </a:spcBef>
              <a:defRPr sz="1800"/>
            </a:lvl4pPr>
            <a:lvl5pPr marL="16002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23402" y="2327441"/>
            <a:ext cx="4846320" cy="4040574"/>
          </a:xfrm>
        </p:spPr>
        <p:txBody>
          <a:bodyPr lIns="0" tIns="0" rIns="0" bIns="0">
            <a:normAutofit/>
          </a:bodyPr>
          <a:lstStyle>
            <a:lvl1pPr marL="0" indent="0">
              <a:spcAft>
                <a:spcPts val="0"/>
              </a:spcAft>
              <a:buNone/>
              <a:defRPr sz="1800"/>
            </a:lvl1pPr>
            <a:lvl2pPr marL="228600">
              <a:spcBef>
                <a:spcPts val="1200"/>
              </a:spcBef>
              <a:defRPr sz="1800"/>
            </a:lvl2pPr>
            <a:lvl3pPr marL="685800">
              <a:spcBef>
                <a:spcPts val="1200"/>
              </a:spcBef>
              <a:defRPr sz="1800"/>
            </a:lvl3pPr>
            <a:lvl4pPr marL="1143000">
              <a:spcBef>
                <a:spcPts val="1200"/>
              </a:spcBef>
              <a:defRPr sz="1800"/>
            </a:lvl4pPr>
            <a:lvl5pPr marL="16002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phic 15">
            <a:extLst>
              <a:ext uri="{FF2B5EF4-FFF2-40B4-BE49-F238E27FC236}">
                <a16:creationId xmlns:a16="http://schemas.microsoft.com/office/drawing/2014/main" id="{A9475260-301F-4744-B1DA-7B00F6FB4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Graphic 16">
            <a:extLst>
              <a:ext uri="{FF2B5EF4-FFF2-40B4-BE49-F238E27FC236}">
                <a16:creationId xmlns:a16="http://schemas.microsoft.com/office/drawing/2014/main" id="{9BBD3F4B-0836-48C5-AC68-747456D1D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Graphic 14">
            <a:extLst>
              <a:ext uri="{FF2B5EF4-FFF2-40B4-BE49-F238E27FC236}">
                <a16:creationId xmlns:a16="http://schemas.microsoft.com/office/drawing/2014/main" id="{9B4398D5-99F4-4F83-AA77-9B4177648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D6A69CF-70D6-AB12-CD8B-FD75B7EE1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595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9EFE408-BFE1-16DC-F7C6-47F55C171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992" y="0"/>
            <a:ext cx="5779008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572" y="685800"/>
            <a:ext cx="4754880" cy="5670550"/>
          </a:xfrm>
        </p:spPr>
        <p:txBody>
          <a:bodyPr lIns="0" tIns="0" rIns="0" bIns="0" anchor="ctr" anchorCtr="0"/>
          <a:lstStyle>
            <a:lvl1pPr algn="l">
              <a:defRPr sz="40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4C0ED5DD-6381-0FFD-7B45-D21179A39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F042E432-AE48-385B-DEA1-32129394CE7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279526" y="1533524"/>
            <a:ext cx="4663440" cy="1895475"/>
          </a:xfrm>
        </p:spPr>
        <p:txBody>
          <a:bodyPr lIns="0" tIns="0" rIns="0" bIns="0" anchor="t" anchorCtr="0">
            <a:noAutofit/>
          </a:bodyPr>
          <a:lstStyle>
            <a:lvl1pPr marL="342900" indent="-512064">
              <a:spcBef>
                <a:spcPts val="1000"/>
              </a:spcBef>
              <a:buFont typeface="+mj-lt"/>
              <a:buAutoNum type="arabicPeriod"/>
              <a:defRPr sz="1800"/>
            </a:lvl1pPr>
            <a:lvl2pPr marL="1028700" indent="-342900">
              <a:spcBef>
                <a:spcPts val="1200"/>
              </a:spcBef>
              <a:buFont typeface="+mj-lt"/>
              <a:buAutoNum type="alphaLcPeriod"/>
              <a:defRPr sz="1800"/>
            </a:lvl2pPr>
            <a:lvl3pPr marL="1257300" indent="-342900">
              <a:spcBef>
                <a:spcPts val="1200"/>
              </a:spcBef>
              <a:buFont typeface="+mj-lt"/>
              <a:buAutoNum type="arabicParenR"/>
              <a:defRPr sz="1800"/>
            </a:lvl3pPr>
            <a:lvl4pPr marL="1714500" indent="-342900">
              <a:spcBef>
                <a:spcPts val="1200"/>
              </a:spcBef>
              <a:buFont typeface="+mj-lt"/>
              <a:buAutoNum type="alphaLcParenR"/>
              <a:defRPr sz="1800"/>
            </a:lvl4pPr>
            <a:lvl5pPr marL="2228850" indent="-400050">
              <a:spcBef>
                <a:spcPts val="1200"/>
              </a:spcBef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DF111B2E-0535-57E2-FE92-620F9307A95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0160" y="3482974"/>
            <a:ext cx="4663440" cy="1190033"/>
          </a:xfr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spcBef>
                <a:spcPts val="1200"/>
              </a:spcBef>
              <a:buNone/>
              <a:defRPr sz="1600"/>
            </a:lvl2pPr>
            <a:lvl3pPr marL="914400" indent="0">
              <a:spcBef>
                <a:spcPts val="1200"/>
              </a:spcBef>
              <a:buNone/>
              <a:defRPr sz="1400"/>
            </a:lvl3pPr>
            <a:lvl4pPr marL="1371600" indent="0">
              <a:spcBef>
                <a:spcPts val="1200"/>
              </a:spcBef>
              <a:buNone/>
              <a:defRPr sz="1200"/>
            </a:lvl4pPr>
            <a:lvl5pPr marL="1828800" indent="0">
              <a:spcBef>
                <a:spcPts val="120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1280160" y="4692058"/>
            <a:ext cx="4663440" cy="1584918"/>
          </a:xfrm>
        </p:spPr>
        <p:txBody>
          <a:bodyPr lIns="0" tIns="0" rIns="0" bIns="0" anchor="t" anchorCtr="0">
            <a:noAutofit/>
          </a:bodyPr>
          <a:lstStyle>
            <a:lvl1pPr>
              <a:spcBef>
                <a:spcPts val="1200"/>
              </a:spcBef>
              <a:defRPr sz="1800"/>
            </a:lvl1pPr>
            <a:lvl2pPr>
              <a:spcBef>
                <a:spcPts val="1200"/>
              </a:spcBef>
              <a:defRPr sz="1600"/>
            </a:lvl2pPr>
            <a:lvl3pPr>
              <a:spcBef>
                <a:spcPts val="1200"/>
              </a:spcBef>
              <a:defRPr sz="1400"/>
            </a:lvl3pPr>
            <a:lvl4pPr>
              <a:spcBef>
                <a:spcPts val="1200"/>
              </a:spcBef>
              <a:defRPr sz="1200"/>
            </a:lvl4pPr>
            <a:lvl5pPr>
              <a:spcBef>
                <a:spcPts val="1200"/>
              </a:spcBef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34C23E1A-9E5E-DA12-8E11-83F486766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3FE6E42-6A8F-C459-87EE-E2A5BAFA8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320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60" y="301752"/>
            <a:ext cx="4663438" cy="2441448"/>
          </a:xfrm>
        </p:spPr>
        <p:txBody>
          <a:bodyPr lIns="0" tIns="0" rIns="0" bIns="0" anchor="ctr" anchorCtr="0"/>
          <a:lstStyle>
            <a:lvl1pPr algn="l">
              <a:lnSpc>
                <a:spcPts val="4000"/>
              </a:lnSpc>
              <a:spcBef>
                <a:spcPts val="1000"/>
              </a:spcBef>
              <a:defRPr sz="4000" b="1" i="0" cap="all" spc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FB40175-FA51-DA14-A5B2-CD06DE6ECC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80161" y="2777067"/>
            <a:ext cx="4663440" cy="3550581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>
              <a:lnSpc>
                <a:spcPct val="110000"/>
              </a:lnSpc>
              <a:defRPr sz="1600"/>
            </a:lvl2pPr>
            <a:lvl3pPr marL="457200">
              <a:lnSpc>
                <a:spcPct val="110000"/>
              </a:lnSpc>
              <a:defRPr sz="1400"/>
            </a:lvl3pPr>
            <a:lvl4pPr marL="685800">
              <a:lnSpc>
                <a:spcPct val="110000"/>
              </a:lnSpc>
              <a:defRPr sz="1200"/>
            </a:lvl4pPr>
            <a:lvl5pPr marL="914400">
              <a:lnSpc>
                <a:spcPct val="110000"/>
              </a:lnSpc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5930B2-E36D-4D05-A6B3-CA1BF61D5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089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95553" y="301752"/>
            <a:ext cx="5221224" cy="6263640"/>
          </a:xfrm>
        </p:spPr>
        <p:txBody>
          <a:bodyPr tIns="914400" anchor="t" anchorCtr="0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7A4AE671-C203-0370-2888-FC8F7D444D1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434825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792BFA8-57AD-0B5C-2534-1E862B58D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5127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807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59" y="640080"/>
            <a:ext cx="4815836" cy="2103120"/>
          </a:xfrm>
        </p:spPr>
        <p:txBody>
          <a:bodyPr lIns="0" tIns="0" rIns="0" bIns="0" anchor="ctr" anchorCtr="0"/>
          <a:lstStyle>
            <a:lvl1pPr algn="l">
              <a:defRPr sz="40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183E8BD-29F0-8F9F-FC7D-73F8067BCDD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C983CA3-739C-6C20-AFE0-0997370354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31427" y="640080"/>
            <a:ext cx="5122889" cy="2103120"/>
          </a:xfrm>
        </p:spPr>
        <p:txBody>
          <a:bodyPr lIns="0" tIns="0" rIns="0" bIns="0" anchor="ctr" anchorCtr="0">
            <a:normAutofit/>
          </a:bodyPr>
          <a:lstStyle>
            <a:lvl1pPr marL="0" indent="0">
              <a:lnSpc>
                <a:spcPct val="110000"/>
              </a:lnSpc>
              <a:buNone/>
              <a:defRPr sz="1800">
                <a:solidFill>
                  <a:schemeClr val="tx1"/>
                </a:solidFill>
              </a:defRPr>
            </a:lvl1pPr>
            <a:lvl2pPr marL="228600">
              <a:lnSpc>
                <a:spcPct val="100000"/>
              </a:lnSpc>
              <a:defRPr sz="1600">
                <a:solidFill>
                  <a:schemeClr val="tx1"/>
                </a:solidFill>
              </a:defRPr>
            </a:lvl2pPr>
            <a:lvl3pPr marL="457200">
              <a:lnSpc>
                <a:spcPct val="100000"/>
              </a:lnSpc>
              <a:defRPr sz="1400">
                <a:solidFill>
                  <a:schemeClr val="tx1"/>
                </a:solidFill>
              </a:defRPr>
            </a:lvl3pPr>
            <a:lvl4pPr marL="685800">
              <a:lnSpc>
                <a:spcPct val="100000"/>
              </a:lnSpc>
              <a:defRPr sz="1200">
                <a:solidFill>
                  <a:schemeClr val="tx1"/>
                </a:solidFill>
              </a:defRPr>
            </a:lvl4pPr>
            <a:lvl5pPr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BC9F29C-BBE9-AFB4-AFC6-30BCA4EB2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BC4D286-C480-B4CF-4406-CACC323F9FAD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1280160" y="3017520"/>
            <a:ext cx="10374152" cy="3208866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EE2817-4518-D59A-BD13-29A3D4FE64F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539516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905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4970638"/>
            <a:ext cx="9144000" cy="1280160"/>
          </a:xfrm>
        </p:spPr>
        <p:txBody>
          <a:bodyPr lIns="0" tIns="0" rIns="0" bIns="0" anchor="b" anchorCtr="0"/>
          <a:lstStyle>
            <a:lvl1pPr algn="l">
              <a:defRPr sz="40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F0626849-9D2D-3C95-8C10-FA8F325F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685800"/>
            <a:ext cx="4937760" cy="402336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>
              <a:spcBef>
                <a:spcPts val="1200"/>
              </a:spcBef>
              <a:defRPr sz="1800"/>
            </a:lvl2pPr>
            <a:lvl3pPr marL="914400">
              <a:spcBef>
                <a:spcPts val="1200"/>
              </a:spcBef>
              <a:defRPr sz="1800"/>
            </a:lvl3pPr>
            <a:lvl4pPr marL="1371600">
              <a:spcBef>
                <a:spcPts val="1200"/>
              </a:spcBef>
              <a:defRPr sz="1800"/>
            </a:lvl4pPr>
            <a:lvl5pPr marL="18288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04755" y="685800"/>
            <a:ext cx="4937760" cy="4023360"/>
          </a:xfrm>
        </p:spPr>
        <p:txBody>
          <a:bodyPr lIns="0" tIns="0" rIns="0" bIns="0">
            <a:noAutofit/>
          </a:bodyPr>
          <a:lstStyle>
            <a:lvl1pPr>
              <a:spcBef>
                <a:spcPts val="1200"/>
              </a:spcBef>
              <a:defRPr sz="1800"/>
            </a:lvl1pPr>
            <a:lvl2pPr>
              <a:spcBef>
                <a:spcPts val="1200"/>
              </a:spcBef>
              <a:defRPr sz="1800"/>
            </a:lvl2pPr>
            <a:lvl3pPr>
              <a:spcBef>
                <a:spcPts val="1200"/>
              </a:spcBef>
              <a:defRPr sz="1800"/>
            </a:lvl3pPr>
            <a:lvl4pPr>
              <a:spcBef>
                <a:spcPts val="1200"/>
              </a:spcBef>
              <a:defRPr sz="1800"/>
            </a:lvl4pPr>
            <a:lvl5pPr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717D91C-F78C-0E4C-FB27-7112AB840A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22570" y="5680647"/>
            <a:ext cx="465456" cy="581432"/>
            <a:chOff x="7843462" y="2744546"/>
            <a:chExt cx="465456" cy="581432"/>
          </a:xfrm>
        </p:grpSpPr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CC935CF3-75DF-0DC7-1B2A-E0E0205DF64B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Graphic 13">
              <a:extLst>
                <a:ext uri="{FF2B5EF4-FFF2-40B4-BE49-F238E27FC236}">
                  <a16:creationId xmlns:a16="http://schemas.microsoft.com/office/drawing/2014/main" id="{D5782BEB-6319-DEC1-F9ED-BA9201C6B9B7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Graphic 15">
              <a:extLst>
                <a:ext uri="{FF2B5EF4-FFF2-40B4-BE49-F238E27FC236}">
                  <a16:creationId xmlns:a16="http://schemas.microsoft.com/office/drawing/2014/main" id="{6E59DFAF-9794-BD12-D89A-422FFFFCE023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36444A47-BCB3-5C86-F2B8-25092BE8D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648C53D-49AB-C003-70E8-5117AF079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96BC1DE-6696-3408-564E-2D73B1266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0711518" y="5393214"/>
            <a:ext cx="1097341" cy="736658"/>
            <a:chOff x="10508317" y="446637"/>
            <a:chExt cx="1097341" cy="736658"/>
          </a:xfrm>
        </p:grpSpPr>
        <p:sp>
          <p:nvSpPr>
            <p:cNvPr id="25" name="Graphic 15">
              <a:extLst>
                <a:ext uri="{FF2B5EF4-FFF2-40B4-BE49-F238E27FC236}">
                  <a16:creationId xmlns:a16="http://schemas.microsoft.com/office/drawing/2014/main" id="{268EB1E4-29D6-C3F5-BCBB-FB7E7EE5C2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508317" y="492206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" name="Graphic 16">
              <a:extLst>
                <a:ext uri="{FF2B5EF4-FFF2-40B4-BE49-F238E27FC236}">
                  <a16:creationId xmlns:a16="http://schemas.microsoft.com/office/drawing/2014/main" id="{09524D46-140F-2F4F-430B-F59815A07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477944" y="1055581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Graphic 14">
              <a:extLst>
                <a:ext uri="{FF2B5EF4-FFF2-40B4-BE49-F238E27FC236}">
                  <a16:creationId xmlns:a16="http://schemas.microsoft.com/office/drawing/2014/main" id="{AC75143B-C717-8D04-743C-B40FB5EFB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41555" y="446637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87376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40080"/>
            <a:ext cx="10087699" cy="1280160"/>
          </a:xfrm>
        </p:spPr>
        <p:txBody>
          <a:bodyPr lIns="0" tIns="0" rIns="0" bIns="0" anchor="b" anchorCtr="0"/>
          <a:lstStyle>
            <a:lvl1pPr>
              <a:defRPr sz="4000" b="1" cap="all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6B8DF0-B7E6-5032-C3C7-E457E793B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80160" y="2103119"/>
            <a:ext cx="10087699" cy="4114800"/>
          </a:xfrm>
        </p:spPr>
        <p:txBody>
          <a:bodyPr lIns="0" tIns="0" rIns="0" bIns="0"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C5F4D40-ADE4-5EEB-436C-8563A49C5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/>
          <a:lstStyle>
            <a:lvl1pPr algn="l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7450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ubbles and Title 1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97" y="585216"/>
            <a:ext cx="8965094" cy="2276856"/>
          </a:xfrm>
        </p:spPr>
        <p:txBody>
          <a:bodyPr lIns="0" tIns="0" rIns="0" anchor="b"/>
          <a:lstStyle>
            <a:lvl1pPr algn="r">
              <a:lnSpc>
                <a:spcPts val="4800"/>
              </a:lnSpc>
              <a:defRPr sz="48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FC9B12A4-113B-B3F6-5926-5C2A6F504AB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371606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40609" y="3127248"/>
            <a:ext cx="6117381" cy="3017520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AF51D36-DB19-27CD-47E0-A4261648D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8614240">
            <a:off x="3975343" y="2819532"/>
            <a:ext cx="465456" cy="581432"/>
            <a:chOff x="7843462" y="2744546"/>
            <a:chExt cx="465456" cy="581432"/>
          </a:xfrm>
        </p:grpSpPr>
        <p:sp>
          <p:nvSpPr>
            <p:cNvPr id="4" name="Graphic 12">
              <a:extLst>
                <a:ext uri="{FF2B5EF4-FFF2-40B4-BE49-F238E27FC236}">
                  <a16:creationId xmlns:a16="http://schemas.microsoft.com/office/drawing/2014/main" id="{3EFED0E0-17D4-C5B0-09D0-B43338A856B3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" name="Graphic 13">
              <a:extLst>
                <a:ext uri="{FF2B5EF4-FFF2-40B4-BE49-F238E27FC236}">
                  <a16:creationId xmlns:a16="http://schemas.microsoft.com/office/drawing/2014/main" id="{8F798BBE-9B6F-700D-08A1-09ABC5388CCE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" name="Graphic 15">
              <a:extLst>
                <a:ext uri="{FF2B5EF4-FFF2-40B4-BE49-F238E27FC236}">
                  <a16:creationId xmlns:a16="http://schemas.microsoft.com/office/drawing/2014/main" id="{4AE2D1C5-9D85-9049-690C-3AFCE7E2DA56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0FE75D-ACD3-655E-58A7-8F2C182760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93626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36525"/>
            <a:ext cx="10515600" cy="1509713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390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5B2B208-F5B9-0151-C982-A389CB0B29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291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0EEA6CA-DE1E-18ED-E69E-54A1372FE2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973C81-5E94-41F6-CE15-3B4763B3A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835B5C-F994-9D57-3118-919EE90F5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867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394" y="1"/>
            <a:ext cx="9918405" cy="164623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5394" y="1825625"/>
            <a:ext cx="991840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6121" y="726630"/>
            <a:ext cx="520991" cy="51737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800" b="1" i="0" cap="all" spc="100" baseline="0"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F1C86-6A9C-D287-D381-5634A69BF1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35394" y="6356350"/>
            <a:ext cx="27432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B8477-3F24-EDCB-C8AC-8433636391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38999" y="6356350"/>
            <a:ext cx="41148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71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17" r:id="rId2"/>
    <p:sldLayoutId id="2147483728" r:id="rId3"/>
    <p:sldLayoutId id="2147483729" r:id="rId4"/>
    <p:sldLayoutId id="2147483710" r:id="rId5"/>
    <p:sldLayoutId id="2147483727" r:id="rId6"/>
    <p:sldLayoutId id="2147483701" r:id="rId7"/>
    <p:sldLayoutId id="2147483721" r:id="rId8"/>
    <p:sldLayoutId id="2147483720" r:id="rId9"/>
    <p:sldLayoutId id="2147483730" r:id="rId10"/>
    <p:sldLayoutId id="2147483722" r:id="rId11"/>
    <p:sldLayoutId id="2147483698" r:id="rId12"/>
    <p:sldLayoutId id="2147483732" r:id="rId13"/>
    <p:sldLayoutId id="2147483702" r:id="rId14"/>
    <p:sldLayoutId id="2147483703" r:id="rId15"/>
  </p:sldLayoutIdLst>
  <p:hf sldNum="0" hdr="0" ftr="0"/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://www.ibm.com/think/topics/decision-trees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://www.geeksforgeeks.org/random-forest-algorithm-in-machine-learning/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://www.ibm.com/think/topics/decision-trees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howtolearnmachinelearning.com/articles/boosting-in-machine-learning/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9968B-2619-4F71-AB00-4C493E120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/>
          <a:lstStyle/>
          <a:p>
            <a:r>
              <a:rPr lang="en-US" dirty="0"/>
              <a:t>Exploring Youth Drug Use with Decision Trees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74D068A-3A95-8CC1-3815-9003AD1FE815}"/>
              </a:ext>
            </a:extLst>
          </p:cNvPr>
          <p:cNvSpPr txBox="1">
            <a:spLocks/>
          </p:cNvSpPr>
          <p:nvPr/>
        </p:nvSpPr>
        <p:spPr>
          <a:xfrm>
            <a:off x="8247937" y="5887699"/>
            <a:ext cx="5918068" cy="314496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By</a:t>
            </a:r>
          </a:p>
          <a:p>
            <a:pPr marL="457200" lvl="1" indent="0">
              <a:buNone/>
            </a:pPr>
            <a:r>
              <a:rPr lang="en-US" b="1" dirty="0" err="1">
                <a:solidFill>
                  <a:schemeClr val="bg1"/>
                </a:solidFill>
              </a:rPr>
              <a:t>Suryakailash</a:t>
            </a:r>
            <a:r>
              <a:rPr lang="en-US" b="1" dirty="0">
                <a:solidFill>
                  <a:schemeClr val="bg1"/>
                </a:solidFill>
              </a:rPr>
              <a:t> Ramesh</a:t>
            </a:r>
          </a:p>
        </p:txBody>
      </p:sp>
    </p:spTree>
    <p:extLst>
      <p:ext uri="{BB962C8B-B14F-4D97-AF65-F5344CB8AC3E}">
        <p14:creationId xmlns:p14="http://schemas.microsoft.com/office/powerpoint/2010/main" val="2955403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243DF-1FE9-01BE-435F-1729F4AB3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Questions</a:t>
            </a:r>
          </a:p>
        </p:txBody>
      </p:sp>
      <p:pic>
        <p:nvPicPr>
          <p:cNvPr id="6" name="Picture Placeholder 5" descr="Mountains at sunset">
            <a:extLst>
              <a:ext uri="{FF2B5EF4-FFF2-40B4-BE49-F238E27FC236}">
                <a16:creationId xmlns:a16="http://schemas.microsoft.com/office/drawing/2014/main" id="{B520C53E-8329-74AB-5229-BCDE630B2E1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/>
          <a:srcRect t="21" b="21"/>
          <a:stretch/>
        </p:blipFill>
        <p:spPr>
          <a:xfrm>
            <a:off x="831586" y="2366156"/>
            <a:ext cx="3707972" cy="3707971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AF7377-87AF-3A8C-539C-8A9651F5DA3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988132" y="3010832"/>
            <a:ext cx="7075452" cy="3144965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Can peer/school/family factors predict alcohol use? (Binary Classification: ALCFLAG)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Can we classify cigarette use into low/medium/high levels? (Multi-Class: IRCIGFM)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How many days per month does a youth smoke? (Regression: CIGMDAYS)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812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5A271-8875-6BCE-0A4A-542683BB39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691" y="0"/>
            <a:ext cx="8311102" cy="1096448"/>
          </a:xfrm>
        </p:spPr>
        <p:txBody>
          <a:bodyPr/>
          <a:lstStyle/>
          <a:p>
            <a:r>
              <a:rPr lang="en-US" dirty="0"/>
              <a:t>Dataset 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DFCE9A-5B77-B150-9866-853817258307}"/>
              </a:ext>
            </a:extLst>
          </p:cNvPr>
          <p:cNvSpPr txBox="1"/>
          <p:nvPr/>
        </p:nvSpPr>
        <p:spPr>
          <a:xfrm>
            <a:off x="1553592" y="1535837"/>
            <a:ext cx="10093911" cy="511353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6DCCF2-6A51-5B9D-6086-739C73554CF4}"/>
              </a:ext>
            </a:extLst>
          </p:cNvPr>
          <p:cNvSpPr txBox="1"/>
          <p:nvPr/>
        </p:nvSpPr>
        <p:spPr>
          <a:xfrm>
            <a:off x="1715609" y="1785243"/>
            <a:ext cx="1020710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Source: 			</a:t>
            </a:r>
            <a:r>
              <a:rPr lang="en-US" sz="2800" dirty="0">
                <a:solidFill>
                  <a:schemeClr val="bg1"/>
                </a:solidFill>
              </a:rPr>
              <a:t>2020 NSDUH (National Survey on 				Drug Use and Health)</a:t>
            </a:r>
          </a:p>
          <a:p>
            <a:r>
              <a:rPr lang="en-US" sz="2800" b="1" dirty="0">
                <a:solidFill>
                  <a:schemeClr val="bg1"/>
                </a:solidFill>
              </a:rPr>
              <a:t>Target Population: 	</a:t>
            </a:r>
            <a:r>
              <a:rPr lang="en-US" sz="2800" dirty="0">
                <a:solidFill>
                  <a:schemeClr val="bg1"/>
                </a:solidFill>
              </a:rPr>
              <a:t>Youth under 18</a:t>
            </a:r>
          </a:p>
          <a:p>
            <a:r>
              <a:rPr lang="en-US" sz="2800" b="1" dirty="0">
                <a:solidFill>
                  <a:schemeClr val="bg1"/>
                </a:solidFill>
              </a:rPr>
              <a:t>Selected Features: 	</a:t>
            </a:r>
            <a:r>
              <a:rPr lang="en-US" sz="2800" dirty="0">
                <a:solidFill>
                  <a:schemeClr val="bg1"/>
                </a:solidFill>
              </a:rPr>
              <a:t>Demographics, peer/parent influence, 				drug education, and youth 						experiences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Preprocessing: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Used imputed variables (e.g. IRCIGFM)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Handled missing values</a:t>
            </a:r>
          </a:p>
        </p:txBody>
      </p:sp>
    </p:spTree>
    <p:extLst>
      <p:ext uri="{BB962C8B-B14F-4D97-AF65-F5344CB8AC3E}">
        <p14:creationId xmlns:p14="http://schemas.microsoft.com/office/powerpoint/2010/main" val="1941235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0CC86-0EF8-4EAC-B621-AAE4C6071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A8683B3-214E-7296-EC97-D2524E8085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4855" y="226534"/>
            <a:ext cx="10302240" cy="1024819"/>
          </a:xfrm>
        </p:spPr>
        <p:txBody>
          <a:bodyPr/>
          <a:lstStyle/>
          <a:p>
            <a:r>
              <a:rPr lang="en-US" dirty="0"/>
              <a:t>Modeling Approach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3B4B0B27-5487-6CF0-2D1A-BC24346B52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4855" y="2612793"/>
            <a:ext cx="10020444" cy="3432791"/>
          </a:xfrm>
        </p:spPr>
        <p:txBody>
          <a:bodyPr>
            <a:noAutofit/>
          </a:bodyPr>
          <a:lstStyle/>
          <a:p>
            <a:r>
              <a:rPr lang="en-US" sz="2800" b="1" dirty="0"/>
              <a:t>Models Used</a:t>
            </a:r>
            <a:r>
              <a:rPr lang="en-US" sz="2800" dirty="0"/>
              <a:t>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Decision Tree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Random Forest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Bagging (Bootstrap Aggregating)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Boosting (Gradient Boosting / AdaBoost)</a:t>
            </a:r>
          </a:p>
          <a:p>
            <a:r>
              <a:rPr lang="en-US" sz="2800" b="1" dirty="0"/>
              <a:t>Key Steps: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Train-test split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Hyperparameter tuning with </a:t>
            </a:r>
            <a:r>
              <a:rPr lang="en-US" sz="2800" dirty="0" err="1"/>
              <a:t>GridSearchCV</a:t>
            </a: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Evaluation: Accuracy, Precision, Recall, RMSE (for regression)</a:t>
            </a:r>
          </a:p>
        </p:txBody>
      </p:sp>
    </p:spTree>
    <p:extLst>
      <p:ext uri="{BB962C8B-B14F-4D97-AF65-F5344CB8AC3E}">
        <p14:creationId xmlns:p14="http://schemas.microsoft.com/office/powerpoint/2010/main" val="888006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1597E8A-ED9C-385B-12B8-1DD34DF2DC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7344180"/>
              </p:ext>
            </p:extLst>
          </p:nvPr>
        </p:nvGraphicFramePr>
        <p:xfrm>
          <a:off x="1137920" y="2081350"/>
          <a:ext cx="10454640" cy="4370438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3566160">
                  <a:extLst>
                    <a:ext uri="{9D8B030D-6E8A-4147-A177-3AD203B41FA5}">
                      <a16:colId xmlns:a16="http://schemas.microsoft.com/office/drawing/2014/main" val="3856972726"/>
                    </a:ext>
                  </a:extLst>
                </a:gridCol>
                <a:gridCol w="6888480">
                  <a:extLst>
                    <a:ext uri="{9D8B030D-6E8A-4147-A177-3AD203B41FA5}">
                      <a16:colId xmlns:a16="http://schemas.microsoft.com/office/drawing/2014/main" val="471364926"/>
                    </a:ext>
                  </a:extLst>
                </a:gridCol>
              </a:tblGrid>
              <a:tr h="135959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Variable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8802" marR="58802" marT="29401" marB="29401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8802" marR="58802" marT="29401" marB="29401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5225474"/>
                  </a:ext>
                </a:extLst>
              </a:tr>
              <a:tr h="369165">
                <a:tc>
                  <a:txBody>
                    <a:bodyPr/>
                    <a:lstStyle/>
                    <a:p>
                      <a:r>
                        <a:rPr lang="en-US" sz="1800" b="1"/>
                        <a:t>FRDMJMON</a:t>
                      </a:r>
                      <a:endParaRPr lang="en-US" sz="1800"/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Number of close friends who use marijuana at least once a month</a:t>
                      </a:r>
                    </a:p>
                  </a:txBody>
                  <a:tcPr marL="58802" marR="58802" marT="29401" marB="29401" anchor="ctr"/>
                </a:tc>
                <a:extLst>
                  <a:ext uri="{0D108BD9-81ED-4DB2-BD59-A6C34878D82A}">
                    <a16:rowId xmlns:a16="http://schemas.microsoft.com/office/drawing/2014/main" val="66251419"/>
                  </a:ext>
                </a:extLst>
              </a:tr>
              <a:tr h="369165">
                <a:tc>
                  <a:txBody>
                    <a:bodyPr/>
                    <a:lstStyle/>
                    <a:p>
                      <a:r>
                        <a:rPr lang="en-US" sz="1800" b="1"/>
                        <a:t>FRDPCIG2</a:t>
                      </a:r>
                      <a:endParaRPr lang="en-US" sz="1800"/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Number of close friends who smoke cigarettes at least once a month</a:t>
                      </a:r>
                    </a:p>
                  </a:txBody>
                  <a:tcPr marL="58802" marR="58802" marT="29401" marB="29401" anchor="ctr"/>
                </a:tc>
                <a:extLst>
                  <a:ext uri="{0D108BD9-81ED-4DB2-BD59-A6C34878D82A}">
                    <a16:rowId xmlns:a16="http://schemas.microsoft.com/office/drawing/2014/main" val="471835273"/>
                  </a:ext>
                </a:extLst>
              </a:tr>
              <a:tr h="369165">
                <a:tc>
                  <a:txBody>
                    <a:bodyPr/>
                    <a:lstStyle/>
                    <a:p>
                      <a:r>
                        <a:rPr lang="en-US" sz="1800" b="1"/>
                        <a:t>PRMJEVR2</a:t>
                      </a:r>
                      <a:endParaRPr lang="en-US" sz="1800"/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Parent(s) talk to youth about dangers of marijuana (Yes/No)</a:t>
                      </a:r>
                    </a:p>
                  </a:txBody>
                  <a:tcPr marL="58802" marR="58802" marT="29401" marB="29401" anchor="ctr"/>
                </a:tc>
                <a:extLst>
                  <a:ext uri="{0D108BD9-81ED-4DB2-BD59-A6C34878D82A}">
                    <a16:rowId xmlns:a16="http://schemas.microsoft.com/office/drawing/2014/main" val="426041310"/>
                  </a:ext>
                </a:extLst>
              </a:tr>
              <a:tr h="369165">
                <a:tc>
                  <a:txBody>
                    <a:bodyPr/>
                    <a:lstStyle/>
                    <a:p>
                      <a:r>
                        <a:rPr lang="en-US" sz="1800" b="1"/>
                        <a:t>STNDSMJ</a:t>
                      </a:r>
                      <a:endParaRPr lang="en-US" sz="1800"/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Perceived risk of smoking marijuana once or twice a week</a:t>
                      </a:r>
                    </a:p>
                  </a:txBody>
                  <a:tcPr marL="58802" marR="58802" marT="29401" marB="29401" anchor="ctr"/>
                </a:tc>
                <a:extLst>
                  <a:ext uri="{0D108BD9-81ED-4DB2-BD59-A6C34878D82A}">
                    <a16:rowId xmlns:a16="http://schemas.microsoft.com/office/drawing/2014/main" val="2362711100"/>
                  </a:ext>
                </a:extLst>
              </a:tr>
              <a:tr h="369165">
                <a:tc>
                  <a:txBody>
                    <a:bodyPr/>
                    <a:lstStyle/>
                    <a:p>
                      <a:r>
                        <a:rPr lang="en-US" sz="1800" b="1"/>
                        <a:t>PRMJMO</a:t>
                      </a:r>
                      <a:endParaRPr lang="en-US" sz="1800"/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Number of days youth used marijuana in the past 30 days</a:t>
                      </a:r>
                    </a:p>
                  </a:txBody>
                  <a:tcPr marL="58802" marR="58802" marT="29401" marB="29401" anchor="ctr"/>
                </a:tc>
                <a:extLst>
                  <a:ext uri="{0D108BD9-81ED-4DB2-BD59-A6C34878D82A}">
                    <a16:rowId xmlns:a16="http://schemas.microsoft.com/office/drawing/2014/main" val="3904503988"/>
                  </a:ext>
                </a:extLst>
              </a:tr>
              <a:tr h="369165">
                <a:tc>
                  <a:txBody>
                    <a:bodyPr/>
                    <a:lstStyle/>
                    <a:p>
                      <a:r>
                        <a:rPr lang="en-US" sz="1800" b="1"/>
                        <a:t>PARCHKHW</a:t>
                      </a:r>
                      <a:endParaRPr lang="en-US" sz="1800"/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Parent(s) check if youth has done their homework</a:t>
                      </a:r>
                    </a:p>
                  </a:txBody>
                  <a:tcPr marL="58802" marR="58802" marT="29401" marB="29401" anchor="ctr"/>
                </a:tc>
                <a:extLst>
                  <a:ext uri="{0D108BD9-81ED-4DB2-BD59-A6C34878D82A}">
                    <a16:rowId xmlns:a16="http://schemas.microsoft.com/office/drawing/2014/main" val="1340835397"/>
                  </a:ext>
                </a:extLst>
              </a:tr>
              <a:tr h="369165">
                <a:tc>
                  <a:txBody>
                    <a:bodyPr/>
                    <a:lstStyle/>
                    <a:p>
                      <a:r>
                        <a:rPr lang="en-US" sz="1800" b="1"/>
                        <a:t>FRDMEVR2</a:t>
                      </a:r>
                      <a:endParaRPr lang="en-US" sz="1800"/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Number of close friends who ever used marijuana</a:t>
                      </a:r>
                    </a:p>
                  </a:txBody>
                  <a:tcPr marL="58802" marR="58802" marT="29401" marB="29401" anchor="ctr"/>
                </a:tc>
                <a:extLst>
                  <a:ext uri="{0D108BD9-81ED-4DB2-BD59-A6C34878D82A}">
                    <a16:rowId xmlns:a16="http://schemas.microsoft.com/office/drawing/2014/main" val="3922504079"/>
                  </a:ext>
                </a:extLst>
              </a:tr>
              <a:tr h="369165">
                <a:tc>
                  <a:txBody>
                    <a:bodyPr/>
                    <a:lstStyle/>
                    <a:p>
                      <a:r>
                        <a:rPr lang="en-US" sz="1800" b="1"/>
                        <a:t>PRLMTTV2</a:t>
                      </a:r>
                      <a:endParaRPr lang="en-US" sz="1800"/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Parent(s) limit amount of time youth can watch TV</a:t>
                      </a:r>
                    </a:p>
                  </a:txBody>
                  <a:tcPr marL="58802" marR="58802" marT="29401" marB="29401" anchor="ctr"/>
                </a:tc>
                <a:extLst>
                  <a:ext uri="{0D108BD9-81ED-4DB2-BD59-A6C34878D82A}">
                    <a16:rowId xmlns:a16="http://schemas.microsoft.com/office/drawing/2014/main" val="94560239"/>
                  </a:ext>
                </a:extLst>
              </a:tr>
              <a:tr h="369165">
                <a:tc>
                  <a:txBody>
                    <a:bodyPr/>
                    <a:lstStyle/>
                    <a:p>
                      <a:r>
                        <a:rPr lang="en-US" sz="1800" b="1"/>
                        <a:t>PRGDJOB2</a:t>
                      </a:r>
                      <a:endParaRPr lang="en-US" sz="1800"/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Parent(s) praise youth for doing a good job (e.g., verbal encouragement)</a:t>
                      </a:r>
                    </a:p>
                  </a:txBody>
                  <a:tcPr marL="58802" marR="58802" marT="29401" marB="29401" anchor="ctr"/>
                </a:tc>
                <a:extLst>
                  <a:ext uri="{0D108BD9-81ED-4DB2-BD59-A6C34878D82A}">
                    <a16:rowId xmlns:a16="http://schemas.microsoft.com/office/drawing/2014/main" val="195070357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C06592C-BDAF-601C-995A-ABC81C320CD9}"/>
              </a:ext>
            </a:extLst>
          </p:cNvPr>
          <p:cNvSpPr txBox="1"/>
          <p:nvPr/>
        </p:nvSpPr>
        <p:spPr>
          <a:xfrm>
            <a:off x="1137920" y="1130786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Important variables</a:t>
            </a:r>
          </a:p>
        </p:txBody>
      </p:sp>
    </p:spTree>
    <p:extLst>
      <p:ext uri="{BB962C8B-B14F-4D97-AF65-F5344CB8AC3E}">
        <p14:creationId xmlns:p14="http://schemas.microsoft.com/office/powerpoint/2010/main" val="3254733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7E64C-61AC-1971-039E-461CB2C34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320" y="2382042"/>
            <a:ext cx="9906856" cy="3012918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6000" dirty="0"/>
              <a:t>Binary Classification (ALCFLAG)</a:t>
            </a:r>
          </a:p>
        </p:txBody>
      </p:sp>
    </p:spTree>
    <p:extLst>
      <p:ext uri="{BB962C8B-B14F-4D97-AF65-F5344CB8AC3E}">
        <p14:creationId xmlns:p14="http://schemas.microsoft.com/office/powerpoint/2010/main" val="526869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1">
            <a:extLst>
              <a:ext uri="{FF2B5EF4-FFF2-40B4-BE49-F238E27FC236}">
                <a16:creationId xmlns:a16="http://schemas.microsoft.com/office/drawing/2014/main" id="{72D9E0DF-DAF3-8722-F721-EDD01C1D7779}"/>
              </a:ext>
            </a:extLst>
          </p:cNvPr>
          <p:cNvSpPr txBox="1">
            <a:spLocks/>
          </p:cNvSpPr>
          <p:nvPr/>
        </p:nvSpPr>
        <p:spPr>
          <a:xfrm>
            <a:off x="942580" y="733246"/>
            <a:ext cx="10543205" cy="68666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4000" b="1" kern="1200" cap="all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Decision Tree Classifier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912972-9B52-DEF0-AAE0-A3AC1DE64036}"/>
              </a:ext>
            </a:extLst>
          </p:cNvPr>
          <p:cNvSpPr txBox="1"/>
          <p:nvPr/>
        </p:nvSpPr>
        <p:spPr>
          <a:xfrm>
            <a:off x="942580" y="1713915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decision tree </a:t>
            </a:r>
            <a:r>
              <a:rPr lang="en-US" dirty="0"/>
              <a:t>is a flowchart that helps you visualize and compare different options,</a:t>
            </a:r>
          </a:p>
          <a:p>
            <a:r>
              <a:rPr lang="en-US" dirty="0"/>
              <a:t>It is </a:t>
            </a:r>
            <a:r>
              <a:rPr lang="en-US" b="1" i="0" dirty="0">
                <a:solidFill>
                  <a:srgbClr val="161616"/>
                </a:solidFill>
                <a:effectLst/>
                <a:latin typeface="IBM Plex Sans" panose="020B0503050203000203" pitchFamily="34" charset="0"/>
              </a:rPr>
              <a:t>supervised learning algorithm</a:t>
            </a:r>
            <a:r>
              <a:rPr lang="en-US" b="0" i="0" dirty="0">
                <a:solidFill>
                  <a:srgbClr val="161616"/>
                </a:solidFill>
                <a:effectLst/>
                <a:latin typeface="IBM Plex Sans" panose="020B0503050203000203" pitchFamily="34" charset="0"/>
              </a:rPr>
              <a:t>, which is utilized for both </a:t>
            </a:r>
            <a:r>
              <a:rPr lang="en-US" b="1" i="0" dirty="0">
                <a:solidFill>
                  <a:srgbClr val="161616"/>
                </a:solidFill>
                <a:effectLst/>
                <a:latin typeface="IBM Plex Sans" panose="020B0503050203000203" pitchFamily="34" charset="0"/>
              </a:rPr>
              <a:t>classification and regression tasks</a:t>
            </a:r>
            <a:r>
              <a:rPr lang="en-US" b="0" i="0" dirty="0">
                <a:solidFill>
                  <a:srgbClr val="161616"/>
                </a:solidFill>
                <a:effectLst/>
                <a:latin typeface="IBM Plex Sans" panose="020B0503050203000203" pitchFamily="34" charset="0"/>
              </a:rPr>
              <a:t>. </a:t>
            </a:r>
            <a:endParaRPr lang="en-US" dirty="0"/>
          </a:p>
        </p:txBody>
      </p:sp>
      <p:pic>
        <p:nvPicPr>
          <p:cNvPr id="4103" name="Picture 7" descr="Model of a decision tree">
            <a:extLst>
              <a:ext uri="{FF2B5EF4-FFF2-40B4-BE49-F238E27FC236}">
                <a16:creationId xmlns:a16="http://schemas.microsoft.com/office/drawing/2014/main" id="{A35E1959-D925-8B97-E3E9-854217DC36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7723" y="2398028"/>
            <a:ext cx="4874142" cy="2746057"/>
          </a:xfrm>
          <a:prstGeom prst="rect">
            <a:avLst/>
          </a:prstGeom>
          <a:solidFill>
            <a:srgbClr val="000000">
              <a:shade val="95000"/>
            </a:srgbClr>
          </a:solidFill>
          <a:ln w="1905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41ED9B4-A037-BBC3-295E-8503913A2FBF}"/>
              </a:ext>
            </a:extLst>
          </p:cNvPr>
          <p:cNvSpPr txBox="1"/>
          <p:nvPr/>
        </p:nvSpPr>
        <p:spPr>
          <a:xfrm>
            <a:off x="942580" y="3429000"/>
            <a:ext cx="28103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Advantages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Easy to interpret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More flexible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565CF9-C4B0-F26D-0D41-E016D343275D}"/>
              </a:ext>
            </a:extLst>
          </p:cNvPr>
          <p:cNvSpPr txBox="1"/>
          <p:nvPr/>
        </p:nvSpPr>
        <p:spPr>
          <a:xfrm>
            <a:off x="3653260" y="3429000"/>
            <a:ext cx="266058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Disadvantages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overfitting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greedy search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6C19C33-818D-E5AC-64BA-EA936EAC506A}"/>
              </a:ext>
            </a:extLst>
          </p:cNvPr>
          <p:cNvSpPr txBox="1"/>
          <p:nvPr/>
        </p:nvSpPr>
        <p:spPr>
          <a:xfrm>
            <a:off x="4795520" y="6581001"/>
            <a:ext cx="113157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"What Are Decision Trees?"</a:t>
            </a:r>
            <a:r>
              <a:rPr lang="en-US" sz="1200" dirty="0"/>
              <a:t> </a:t>
            </a:r>
            <a:r>
              <a:rPr lang="en-US" sz="1200" i="1" dirty="0"/>
              <a:t>IBM</a:t>
            </a:r>
            <a:r>
              <a:rPr lang="en-US" sz="1200" dirty="0"/>
              <a:t>, </a:t>
            </a:r>
            <a:r>
              <a:rPr lang="en-US" sz="1200" dirty="0">
                <a:hlinkClick r:id="rId4"/>
              </a:rPr>
              <a:t>www.ibm.com/think/topics/decision-trees</a:t>
            </a:r>
            <a:r>
              <a:rPr lang="en-US" sz="1200" dirty="0"/>
              <a:t>. Accessed 14 Apr. 2025.</a:t>
            </a:r>
          </a:p>
        </p:txBody>
      </p:sp>
    </p:spTree>
    <p:extLst>
      <p:ext uri="{BB962C8B-B14F-4D97-AF65-F5344CB8AC3E}">
        <p14:creationId xmlns:p14="http://schemas.microsoft.com/office/powerpoint/2010/main" val="14502874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BA2C3-4A50-DB2E-CE3D-FA7A60684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635C6D-08F7-263F-C498-14779E3B10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5D9911-05DB-8F4E-6AF4-90E5BBF7C3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F36A0B-BE60-1F2F-C379-0900E9D53C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615" y="517525"/>
            <a:ext cx="9420225" cy="561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9902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86575-ECF2-4759-B29A-E5D431F3A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C8F1D-27C8-E643-9C6C-5F510B2255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0020" y="1748671"/>
            <a:ext cx="5651260" cy="3360658"/>
          </a:xfrm>
        </p:spPr>
        <p:txBody>
          <a:bodyPr/>
          <a:lstStyle/>
          <a:p>
            <a:r>
              <a:rPr lang="en-US" sz="2400" b="1" dirty="0"/>
              <a:t>Goal: </a:t>
            </a:r>
            <a:r>
              <a:rPr lang="en-US" sz="2400" dirty="0"/>
              <a:t>Predict if youth has tried cigarettes</a:t>
            </a:r>
          </a:p>
          <a:p>
            <a:r>
              <a:rPr lang="en-US" sz="2400" b="1" dirty="0"/>
              <a:t>Top Features: </a:t>
            </a:r>
            <a:r>
              <a:rPr lang="en-US" sz="2400" dirty="0"/>
              <a:t>Peer disapproval, parental checks, marijuana usage</a:t>
            </a:r>
          </a:p>
          <a:p>
            <a:r>
              <a:rPr lang="en-US" sz="2400" b="1" dirty="0"/>
              <a:t>Accuracy: </a:t>
            </a:r>
          </a:p>
          <a:p>
            <a:r>
              <a:rPr lang="en-US" sz="2400" b="1" dirty="0"/>
              <a:t>	</a:t>
            </a:r>
            <a:r>
              <a:rPr lang="en-US" sz="2400" dirty="0"/>
              <a:t>Train = 80%, </a:t>
            </a:r>
          </a:p>
          <a:p>
            <a:r>
              <a:rPr lang="en-US" sz="2400" dirty="0"/>
              <a:t>	Test = 78%</a:t>
            </a:r>
          </a:p>
          <a:p>
            <a:pPr lvl="4" indent="0">
              <a:buNone/>
            </a:pPr>
            <a:endParaRPr lang="en-US" sz="2400" dirty="0"/>
          </a:p>
          <a:p>
            <a:r>
              <a:rPr lang="en-US" sz="2400" b="1" dirty="0"/>
              <a:t>Interpretation: </a:t>
            </a:r>
            <a:r>
              <a:rPr lang="en-US" sz="2400" dirty="0"/>
              <a:t>Strong influence of peer and parental behavior</a:t>
            </a:r>
          </a:p>
        </p:txBody>
      </p:sp>
      <p:sp>
        <p:nvSpPr>
          <p:cNvPr id="7" name="Title 11">
            <a:extLst>
              <a:ext uri="{FF2B5EF4-FFF2-40B4-BE49-F238E27FC236}">
                <a16:creationId xmlns:a16="http://schemas.microsoft.com/office/drawing/2014/main" id="{F88C628B-D62B-C15E-B0B2-D5D67A65FFCF}"/>
              </a:ext>
            </a:extLst>
          </p:cNvPr>
          <p:cNvSpPr txBox="1">
            <a:spLocks/>
          </p:cNvSpPr>
          <p:nvPr/>
        </p:nvSpPr>
        <p:spPr>
          <a:xfrm>
            <a:off x="942580" y="733246"/>
            <a:ext cx="10543205" cy="68666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4000" b="1" kern="1200" cap="all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Decision Tree Classifier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229A7B-2370-1455-42BE-EC048A015F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6231" y="2092960"/>
            <a:ext cx="5881668" cy="2927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3091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0DB9E96A-E06A-0551-9D2F-5241A2EFE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640080"/>
            <a:ext cx="10087699" cy="629920"/>
          </a:xfrm>
        </p:spPr>
        <p:txBody>
          <a:bodyPr/>
          <a:lstStyle/>
          <a:p>
            <a:pPr algn="ctr"/>
            <a:r>
              <a:rPr lang="en-US" dirty="0"/>
              <a:t>Understandable Tree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956B8B-0C1A-FDBC-20A3-FBC242033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796" y="1412240"/>
            <a:ext cx="10890164" cy="547230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858765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D3664-EB09-0B4E-98B5-1487A297E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2C064-C535-00F9-AB48-7C45017E8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2580" y="5021739"/>
            <a:ext cx="3090941" cy="1579880"/>
          </a:xfrm>
        </p:spPr>
        <p:txBody>
          <a:bodyPr/>
          <a:lstStyle/>
          <a:p>
            <a:r>
              <a:rPr lang="en-US" sz="2400" b="1" dirty="0"/>
              <a:t>Accuracy: </a:t>
            </a:r>
          </a:p>
          <a:p>
            <a:r>
              <a:rPr lang="en-US" sz="2400" b="1" dirty="0"/>
              <a:t>	</a:t>
            </a:r>
            <a:r>
              <a:rPr lang="en-US" sz="2400" dirty="0"/>
              <a:t>Train = 80%, </a:t>
            </a:r>
          </a:p>
          <a:p>
            <a:r>
              <a:rPr lang="en-US" sz="2400" dirty="0"/>
              <a:t>	Test = 78%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039E74C2-6E67-F0C0-8CAD-A8232AAF9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8660" y="10160"/>
            <a:ext cx="10543205" cy="6866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Title 11">
            <a:extLst>
              <a:ext uri="{FF2B5EF4-FFF2-40B4-BE49-F238E27FC236}">
                <a16:creationId xmlns:a16="http://schemas.microsoft.com/office/drawing/2014/main" id="{268A2F00-3D5E-232F-350F-C74E6A90C3BF}"/>
              </a:ext>
            </a:extLst>
          </p:cNvPr>
          <p:cNvSpPr txBox="1">
            <a:spLocks/>
          </p:cNvSpPr>
          <p:nvPr/>
        </p:nvSpPr>
        <p:spPr>
          <a:xfrm>
            <a:off x="942580" y="733246"/>
            <a:ext cx="10543205" cy="68666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4000" b="1" kern="1200" cap="all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Random Forest Classifier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436DB3-100C-3F1C-BF82-62F0A0ABED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182" y="1773971"/>
            <a:ext cx="5740877" cy="410456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CAE11BA-7774-ADE1-C3E6-F34732BD7685}"/>
              </a:ext>
            </a:extLst>
          </p:cNvPr>
          <p:cNvSpPr txBox="1"/>
          <p:nvPr/>
        </p:nvSpPr>
        <p:spPr>
          <a:xfrm>
            <a:off x="1542398" y="6601619"/>
            <a:ext cx="1104852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/>
              <a:t>"Random Forest Algorithm in Machine Learning."</a:t>
            </a:r>
            <a:r>
              <a:rPr lang="en-US" sz="1000" dirty="0"/>
              <a:t> </a:t>
            </a:r>
            <a:r>
              <a:rPr lang="en-US" sz="1000" i="1" dirty="0" err="1"/>
              <a:t>GeeksforGeeks</a:t>
            </a:r>
            <a:r>
              <a:rPr lang="en-US" sz="1000" dirty="0"/>
              <a:t>, 2 Jan. 2023, </a:t>
            </a:r>
            <a:r>
              <a:rPr lang="en-US" sz="1000" dirty="0">
                <a:hlinkClick r:id="rId4"/>
              </a:rPr>
              <a:t>www.geeksforgeeks.org/random-forest-algorithm-in-machine-learning/</a:t>
            </a:r>
            <a:r>
              <a:rPr lang="en-US" sz="1000" dirty="0"/>
              <a:t>. Accessed 14 Apr. 2025.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EB1790-BC22-3F05-8D54-559567D01CB5}"/>
              </a:ext>
            </a:extLst>
          </p:cNvPr>
          <p:cNvSpPr txBox="1"/>
          <p:nvPr/>
        </p:nvSpPr>
        <p:spPr>
          <a:xfrm>
            <a:off x="942580" y="1902683"/>
            <a:ext cx="515342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Random Forest</a:t>
            </a:r>
            <a:r>
              <a:rPr lang="en-US" sz="2000" dirty="0"/>
              <a:t> builds </a:t>
            </a:r>
            <a:r>
              <a:rPr lang="en-US" sz="2000" b="1" dirty="0"/>
              <a:t>multiple decision trees</a:t>
            </a:r>
            <a:r>
              <a:rPr lang="en-US" sz="2000" dirty="0"/>
              <a:t> and </a:t>
            </a:r>
            <a:r>
              <a:rPr lang="en-US" sz="2000" b="1" dirty="0"/>
              <a:t>combines their outputs</a:t>
            </a:r>
            <a:r>
              <a:rPr lang="en-US" sz="2000" dirty="0"/>
              <a:t> to improve accuracy and control overfitting.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452F12-BC47-2E09-EEAB-46BBE605D373}"/>
              </a:ext>
            </a:extLst>
          </p:cNvPr>
          <p:cNvSpPr txBox="1"/>
          <p:nvPr/>
        </p:nvSpPr>
        <p:spPr>
          <a:xfrm>
            <a:off x="942580" y="3245073"/>
            <a:ext cx="28103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Advantages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High Accuracy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Reduces Overfitting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127A1B-C1CE-4700-1017-E76E2F8AA397}"/>
              </a:ext>
            </a:extLst>
          </p:cNvPr>
          <p:cNvSpPr txBox="1"/>
          <p:nvPr/>
        </p:nvSpPr>
        <p:spPr>
          <a:xfrm>
            <a:off x="3553600" y="3275201"/>
            <a:ext cx="266058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Disadvantages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Hard to Interpret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Slower Predictions</a:t>
            </a:r>
          </a:p>
        </p:txBody>
      </p:sp>
    </p:spTree>
    <p:extLst>
      <p:ext uri="{BB962C8B-B14F-4D97-AF65-F5344CB8AC3E}">
        <p14:creationId xmlns:p14="http://schemas.microsoft.com/office/powerpoint/2010/main" val="28516483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A43BD-08CC-E1C5-8F6E-A13A8F2F6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08000"/>
            <a:ext cx="10668000" cy="640080"/>
          </a:xfrm>
        </p:spPr>
        <p:txBody>
          <a:bodyPr/>
          <a:lstStyle/>
          <a:p>
            <a:pPr algn="ctr"/>
            <a:r>
              <a:rPr lang="en-US" dirty="0"/>
              <a:t>Compare the RF and DT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E14329-E283-4B02-3E24-C233D7E03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545" y="1148079"/>
            <a:ext cx="7497626" cy="5593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0123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FDAA-00CD-846E-A576-B59DFA73F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" y="401320"/>
            <a:ext cx="9137012" cy="614680"/>
          </a:xfrm>
        </p:spPr>
        <p:txBody>
          <a:bodyPr/>
          <a:lstStyle/>
          <a:p>
            <a:r>
              <a:rPr lang="en-US"/>
              <a:t>Gini Impurity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2B3B4A-6ED2-64D9-BEC7-1B6C66971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55039" y="1632857"/>
            <a:ext cx="5171439" cy="1303383"/>
          </a:xfrm>
        </p:spPr>
        <p:txBody>
          <a:bodyPr>
            <a:normAutofit/>
          </a:bodyPr>
          <a:lstStyle/>
          <a:p>
            <a:r>
              <a:rPr lang="en-US" sz="2800" dirty="0"/>
              <a:t>The </a:t>
            </a:r>
            <a:r>
              <a:rPr lang="en-US" sz="2800" b="1" dirty="0"/>
              <a:t>Gini Index</a:t>
            </a:r>
            <a:r>
              <a:rPr lang="en-US" sz="2800" dirty="0"/>
              <a:t> measures how “pure” or “impure” a node is in a decision tree.</a:t>
            </a:r>
          </a:p>
        </p:txBody>
      </p:sp>
      <p:pic>
        <p:nvPicPr>
          <p:cNvPr id="8194" name="Picture 2" descr="Gini impurity formula">
            <a:extLst>
              <a:ext uri="{FF2B5EF4-FFF2-40B4-BE49-F238E27FC236}">
                <a16:creationId xmlns:a16="http://schemas.microsoft.com/office/drawing/2014/main" id="{BA2F7971-9AA0-5DB5-8EF6-0B0273112C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6479" y="1632857"/>
            <a:ext cx="5978435" cy="3362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349CF1E-175E-7CC3-50EB-E043B5C58CED}"/>
              </a:ext>
            </a:extLst>
          </p:cNvPr>
          <p:cNvSpPr txBox="1"/>
          <p:nvPr/>
        </p:nvSpPr>
        <p:spPr>
          <a:xfrm>
            <a:off x="6309360" y="504047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pi​ = proportion of samples belonging to class </a:t>
            </a:r>
            <a:r>
              <a:rPr lang="en-US" dirty="0" err="1"/>
              <a:t>i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84F417-631F-7440-719E-8742445927D0}"/>
              </a:ext>
            </a:extLst>
          </p:cNvPr>
          <p:cNvSpPr txBox="1"/>
          <p:nvPr/>
        </p:nvSpPr>
        <p:spPr>
          <a:xfrm>
            <a:off x="774700" y="3088820"/>
            <a:ext cx="535177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Interpretation: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Gini = 0</a:t>
            </a:r>
            <a:r>
              <a:rPr lang="en-US" sz="2400" dirty="0"/>
              <a:t>: Perfectly pure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Higher Gini</a:t>
            </a:r>
            <a:r>
              <a:rPr lang="en-US" sz="2400" dirty="0"/>
              <a:t>: More mixed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Maximum Gini : </a:t>
            </a:r>
            <a:r>
              <a:rPr lang="en-US" sz="2400" dirty="0"/>
              <a:t>evenly distributed</a:t>
            </a:r>
          </a:p>
        </p:txBody>
      </p:sp>
    </p:spTree>
    <p:extLst>
      <p:ext uri="{BB962C8B-B14F-4D97-AF65-F5344CB8AC3E}">
        <p14:creationId xmlns:p14="http://schemas.microsoft.com/office/powerpoint/2010/main" val="21028164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5698432-2D58-D940-A0AE-7748E2A487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Multi-class Classification: IRCIGFM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7A266C-A76D-7D77-1D9E-1E4F9C461A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1687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E24D3-07BE-C483-3F42-95EEE8333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Multi-class classification</a:t>
            </a:r>
            <a:endParaRPr lang="en-US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828FD192-492A-A40D-E86A-BABC77587C8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95772" y="1661369"/>
            <a:ext cx="5222240" cy="1190033"/>
          </a:xfrm>
        </p:spPr>
        <p:txBody>
          <a:bodyPr/>
          <a:lstStyle/>
          <a:p>
            <a:r>
              <a:rPr lang="en-US" sz="2400" b="1" dirty="0"/>
              <a:t>Multi-class classification</a:t>
            </a:r>
            <a:r>
              <a:rPr lang="en-US" sz="2400" dirty="0"/>
              <a:t> is a type of </a:t>
            </a:r>
            <a:r>
              <a:rPr lang="en-US" sz="2400" b="1" dirty="0"/>
              <a:t>supervised learning</a:t>
            </a:r>
            <a:r>
              <a:rPr lang="en-US" sz="2400" dirty="0"/>
              <a:t> problem where the goal is to </a:t>
            </a:r>
            <a:r>
              <a:rPr lang="en-US" sz="2400" b="1" dirty="0"/>
              <a:t>classify inputs into one of three or more discrete classes</a:t>
            </a:r>
            <a:r>
              <a:rPr lang="en-US" sz="2400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FF69A7-CC53-8499-D891-4B53358B3C53}"/>
              </a:ext>
            </a:extLst>
          </p:cNvPr>
          <p:cNvSpPr txBox="1"/>
          <p:nvPr/>
        </p:nvSpPr>
        <p:spPr>
          <a:xfrm>
            <a:off x="819572" y="3509200"/>
            <a:ext cx="537464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Classifying types of cigarette use as </a:t>
            </a:r>
            <a:r>
              <a:rPr lang="en-US" sz="2400" b="1" dirty="0"/>
              <a:t>Low</a:t>
            </a:r>
            <a:r>
              <a:rPr lang="en-US" sz="2400" dirty="0"/>
              <a:t>, </a:t>
            </a:r>
            <a:r>
              <a:rPr lang="en-US" sz="2400" b="1" dirty="0"/>
              <a:t>Medium</a:t>
            </a:r>
            <a:r>
              <a:rPr lang="en-US" sz="2400" dirty="0"/>
              <a:t>, or </a:t>
            </a:r>
            <a:r>
              <a:rPr lang="en-US" sz="2400" b="1" dirty="0"/>
              <a:t>High.</a:t>
            </a:r>
            <a:endParaRPr lang="en-US" sz="2400" dirty="0"/>
          </a:p>
          <a:p>
            <a:r>
              <a:rPr lang="en-US" sz="2400" dirty="0"/>
              <a:t>Target variable with more than 2 classes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590967-2246-28B0-1594-689102F9CEF6}"/>
              </a:ext>
            </a:extLst>
          </p:cNvPr>
          <p:cNvSpPr txBox="1"/>
          <p:nvPr/>
        </p:nvSpPr>
        <p:spPr>
          <a:xfrm>
            <a:off x="738292" y="5484920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Evaluation Metrics: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Accuracy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Precision / Recall / F1-score</a:t>
            </a:r>
          </a:p>
        </p:txBody>
      </p:sp>
    </p:spTree>
    <p:extLst>
      <p:ext uri="{BB962C8B-B14F-4D97-AF65-F5344CB8AC3E}">
        <p14:creationId xmlns:p14="http://schemas.microsoft.com/office/powerpoint/2010/main" val="7196648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D277A-CFD8-90E5-F83F-C24DAFE53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1">
            <a:extLst>
              <a:ext uri="{FF2B5EF4-FFF2-40B4-BE49-F238E27FC236}">
                <a16:creationId xmlns:a16="http://schemas.microsoft.com/office/drawing/2014/main" id="{7E5EC71E-6E90-9C56-36C9-225D62354D06}"/>
              </a:ext>
            </a:extLst>
          </p:cNvPr>
          <p:cNvSpPr txBox="1">
            <a:spLocks/>
          </p:cNvSpPr>
          <p:nvPr/>
        </p:nvSpPr>
        <p:spPr>
          <a:xfrm>
            <a:off x="942580" y="733246"/>
            <a:ext cx="10543205" cy="68666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4000" b="1" kern="1200" cap="all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Gradient Boosting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64D327-C203-D131-FCC9-A00F1AE3CEB7}"/>
              </a:ext>
            </a:extLst>
          </p:cNvPr>
          <p:cNvSpPr txBox="1"/>
          <p:nvPr/>
        </p:nvSpPr>
        <p:spPr>
          <a:xfrm>
            <a:off x="942580" y="1713915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Gradient Boosting</a:t>
            </a:r>
            <a:r>
              <a:rPr lang="en-US" dirty="0"/>
              <a:t> is an </a:t>
            </a:r>
            <a:r>
              <a:rPr lang="en-US" b="1" dirty="0"/>
              <a:t>ensemble learning technique</a:t>
            </a:r>
            <a:r>
              <a:rPr lang="en-US" dirty="0"/>
              <a:t> that builds a </a:t>
            </a:r>
            <a:r>
              <a:rPr lang="en-US" b="1" dirty="0"/>
              <a:t>strong predictive model</a:t>
            </a:r>
            <a:r>
              <a:rPr lang="en-US" dirty="0"/>
              <a:t> by combining many </a:t>
            </a:r>
            <a:r>
              <a:rPr lang="en-US" b="1" dirty="0"/>
              <a:t>weak learners</a:t>
            </a:r>
            <a:r>
              <a:rPr lang="en-US" dirty="0"/>
              <a:t> in a </a:t>
            </a:r>
            <a:r>
              <a:rPr lang="en-US" b="1" dirty="0"/>
              <a:t>sequential</a:t>
            </a:r>
            <a:r>
              <a:rPr lang="en-US" dirty="0"/>
              <a:t> manner.</a:t>
            </a:r>
          </a:p>
          <a:p>
            <a:r>
              <a:rPr lang="en-US" dirty="0"/>
              <a:t>It Measures errors (residuals) from predictions.</a:t>
            </a:r>
          </a:p>
        </p:txBody>
      </p:sp>
      <p:pic>
        <p:nvPicPr>
          <p:cNvPr id="4103" name="Picture 7" descr="Model of a decision tree">
            <a:extLst>
              <a:ext uri="{FF2B5EF4-FFF2-40B4-BE49-F238E27FC236}">
                <a16:creationId xmlns:a16="http://schemas.microsoft.com/office/drawing/2014/main" id="{C37375FE-3F12-AE7D-4FBD-A62C5BC6EF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7723" y="2398028"/>
            <a:ext cx="4874142" cy="2746057"/>
          </a:xfrm>
          <a:prstGeom prst="rect">
            <a:avLst/>
          </a:prstGeom>
          <a:solidFill>
            <a:srgbClr val="000000">
              <a:shade val="95000"/>
            </a:srgbClr>
          </a:solidFill>
          <a:ln w="1905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C9D75E9-13AC-3BDA-5A42-C389BDFDDD70}"/>
              </a:ext>
            </a:extLst>
          </p:cNvPr>
          <p:cNvSpPr txBox="1"/>
          <p:nvPr/>
        </p:nvSpPr>
        <p:spPr>
          <a:xfrm>
            <a:off x="1016000" y="5363665"/>
            <a:ext cx="32941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Advantages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High predictive accuracy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Works well with non-linear data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E24CE22-AA3C-1764-FBE2-DD752B4E85F4}"/>
              </a:ext>
            </a:extLst>
          </p:cNvPr>
          <p:cNvSpPr txBox="1"/>
          <p:nvPr/>
        </p:nvSpPr>
        <p:spPr>
          <a:xfrm>
            <a:off x="5187420" y="5502164"/>
            <a:ext cx="43223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Disadvantages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Slower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 overfit</a:t>
            </a:r>
            <a:endParaRPr lang="en-US" sz="1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A21733-C74F-DE6A-7358-FA419772E647}"/>
              </a:ext>
            </a:extLst>
          </p:cNvPr>
          <p:cNvSpPr txBox="1"/>
          <p:nvPr/>
        </p:nvSpPr>
        <p:spPr>
          <a:xfrm>
            <a:off x="4795520" y="6581001"/>
            <a:ext cx="113157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"What Are Decision Trees?"</a:t>
            </a:r>
            <a:r>
              <a:rPr lang="en-US" sz="1200" dirty="0"/>
              <a:t> </a:t>
            </a:r>
            <a:r>
              <a:rPr lang="en-US" sz="1200" i="1" dirty="0"/>
              <a:t>IBM</a:t>
            </a:r>
            <a:r>
              <a:rPr lang="en-US" sz="1200" dirty="0"/>
              <a:t>, </a:t>
            </a:r>
            <a:r>
              <a:rPr lang="en-US" sz="1200" dirty="0">
                <a:hlinkClick r:id="rId4"/>
              </a:rPr>
              <a:t>www.ibm.com/think/topics/decision-trees</a:t>
            </a:r>
            <a:r>
              <a:rPr lang="en-US" sz="1200" dirty="0"/>
              <a:t>. Accessed 14 Apr. 2025.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43EE5D-EBC9-3050-79C1-FDFFC6304BE5}"/>
              </a:ext>
            </a:extLst>
          </p:cNvPr>
          <p:cNvSpPr txBox="1"/>
          <p:nvPr/>
        </p:nvSpPr>
        <p:spPr>
          <a:xfrm>
            <a:off x="1016000" y="3208250"/>
            <a:ext cx="57708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It minimizes the </a:t>
            </a:r>
            <a:r>
              <a:rPr lang="en-US" b="1" dirty="0"/>
              <a:t>loss function</a:t>
            </a:r>
            <a:r>
              <a:rPr lang="en-US" dirty="0"/>
              <a:t> by </a:t>
            </a:r>
            <a:r>
              <a:rPr lang="en-US" b="1" dirty="0"/>
              <a:t>gradient descent</a:t>
            </a:r>
            <a:r>
              <a:rPr lang="en-US" dirty="0"/>
              <a:t>, where each new learner takes a step in the direction that reduces the error.</a:t>
            </a:r>
          </a:p>
        </p:txBody>
      </p:sp>
    </p:spTree>
    <p:extLst>
      <p:ext uri="{BB962C8B-B14F-4D97-AF65-F5344CB8AC3E}">
        <p14:creationId xmlns:p14="http://schemas.microsoft.com/office/powerpoint/2010/main" val="2827402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04F1E-CA8D-6F3F-1ADB-B4452117C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6940" y="0"/>
            <a:ext cx="7498080" cy="1280160"/>
          </a:xfrm>
        </p:spPr>
        <p:txBody>
          <a:bodyPr/>
          <a:lstStyle/>
          <a:p>
            <a:r>
              <a:rPr lang="en-US" dirty="0"/>
              <a:t>Difference Between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86120E-FCD0-5E53-55D1-C2B1B07841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2" name="Picture 2" descr="boosting in machine learning">
            <a:extLst>
              <a:ext uri="{FF2B5EF4-FFF2-40B4-BE49-F238E27FC236}">
                <a16:creationId xmlns:a16="http://schemas.microsoft.com/office/drawing/2014/main" id="{BE7AD14B-FEC7-6119-2E99-A3CA610B93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" y="1316853"/>
            <a:ext cx="11330582" cy="4901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FEC6975-0386-24DF-38AE-E553DF3A7A4A}"/>
              </a:ext>
            </a:extLst>
          </p:cNvPr>
          <p:cNvSpPr txBox="1"/>
          <p:nvPr/>
        </p:nvSpPr>
        <p:spPr>
          <a:xfrm>
            <a:off x="3342640" y="6334780"/>
            <a:ext cx="9042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"Boosting in Machine Learning: A Simple Explanation."</a:t>
            </a:r>
            <a:r>
              <a:rPr lang="en-US" sz="1400" dirty="0"/>
              <a:t> </a:t>
            </a:r>
            <a:r>
              <a:rPr lang="en-US" sz="1400" i="1" dirty="0"/>
              <a:t>How to Learn Machine Learning</a:t>
            </a:r>
            <a:r>
              <a:rPr lang="en-US" sz="1400" dirty="0"/>
              <a:t>, </a:t>
            </a:r>
            <a:r>
              <a:rPr lang="en-US" sz="1400" dirty="0">
                <a:hlinkClick r:id="rId3"/>
              </a:rPr>
              <a:t>www.howtolearnmachinelearning.com/articles/boosting-in-machine-learning/</a:t>
            </a:r>
            <a:r>
              <a:rPr lang="en-US" sz="1400" dirty="0"/>
              <a:t>. Accessed 14 Apr. 2025.</a:t>
            </a:r>
          </a:p>
        </p:txBody>
      </p:sp>
    </p:spTree>
    <p:extLst>
      <p:ext uri="{BB962C8B-B14F-4D97-AF65-F5344CB8AC3E}">
        <p14:creationId xmlns:p14="http://schemas.microsoft.com/office/powerpoint/2010/main" val="30813403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24">
            <a:extLst>
              <a:ext uri="{FF2B5EF4-FFF2-40B4-BE49-F238E27FC236}">
                <a16:creationId xmlns:a16="http://schemas.microsoft.com/office/drawing/2014/main" id="{B4A8555D-2DFF-E6D8-3698-67C06B770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79" y="284480"/>
            <a:ext cx="4511041" cy="754238"/>
          </a:xfrm>
        </p:spPr>
        <p:txBody>
          <a:bodyPr/>
          <a:lstStyle/>
          <a:p>
            <a:r>
              <a:rPr lang="en-US" dirty="0"/>
              <a:t>Grid Search-CV</a:t>
            </a:r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E16BFA7C-979F-1D5E-79D4-DEEC56EBE2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59" y="1371600"/>
            <a:ext cx="10109201" cy="620286"/>
          </a:xfrm>
        </p:spPr>
        <p:txBody>
          <a:bodyPr/>
          <a:lstStyle/>
          <a:p>
            <a:r>
              <a:rPr lang="en-US" dirty="0"/>
              <a:t>It searches exhaustively over a </a:t>
            </a:r>
            <a:r>
              <a:rPr lang="en-US" b="1" dirty="0"/>
              <a:t>grid of hyperparameter combinations</a:t>
            </a:r>
            <a:r>
              <a:rPr lang="en-US" dirty="0"/>
              <a:t>, training and evaluating the model on </a:t>
            </a:r>
            <a:r>
              <a:rPr lang="en-US" b="1" dirty="0"/>
              <a:t>multiple folds of the data</a:t>
            </a:r>
            <a:r>
              <a:rPr lang="en-US" dirty="0"/>
              <a:t> to find the best settings.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764E3-FA07-46B2-35D0-72478E98E80B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 bwMode="auto">
          <a:xfrm>
            <a:off x="1056639" y="2063303"/>
            <a:ext cx="10332721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it Works: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 define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model (e.g.,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DecisionTreeClassifier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parameter grid (e.g.,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max_depth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min_samples_split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scoring metric (e.g., accuracy, R²)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performs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cross-validation loop for each combination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Evaluates model performance using the scoring metric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returns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best combination of parameters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best score achieved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0789A1-E1A4-67DF-EE68-E2DCC0131C40}"/>
              </a:ext>
            </a:extLst>
          </p:cNvPr>
          <p:cNvSpPr txBox="1"/>
          <p:nvPr/>
        </p:nvSpPr>
        <p:spPr>
          <a:xfrm>
            <a:off x="873760" y="6281132"/>
            <a:ext cx="1092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"</a:t>
            </a:r>
            <a:r>
              <a:rPr lang="en-US" sz="1600" b="1" dirty="0" err="1"/>
              <a:t>GridSearchCV</a:t>
            </a:r>
            <a:r>
              <a:rPr lang="en-US" sz="1600" b="1" dirty="0"/>
              <a:t> for Beginners."</a:t>
            </a:r>
            <a:r>
              <a:rPr lang="en-US" sz="1600" dirty="0"/>
              <a:t> </a:t>
            </a:r>
            <a:r>
              <a:rPr lang="en-US" sz="1600" i="1" dirty="0"/>
              <a:t>Towards Data Science</a:t>
            </a:r>
            <a:r>
              <a:rPr lang="en-US" sz="1600" dirty="0"/>
              <a:t>, 28 Nov. 2020, towardsdatascience.com/gridsearchcv-for-beginners-db48a90114ee. Accessed 14 Apr. 2025.</a:t>
            </a:r>
          </a:p>
        </p:txBody>
      </p:sp>
    </p:spTree>
    <p:extLst>
      <p:ext uri="{BB962C8B-B14F-4D97-AF65-F5344CB8AC3E}">
        <p14:creationId xmlns:p14="http://schemas.microsoft.com/office/powerpoint/2010/main" val="38119506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77B21-AEB8-BCCC-1AC4-6F0778001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640080"/>
            <a:ext cx="4815836" cy="2103120"/>
          </a:xfrm>
        </p:spPr>
        <p:txBody>
          <a:bodyPr vert="horz" lIns="0" tIns="0" rIns="0" bIns="0" rtlCol="0" anchor="ctr" anchorCtr="0">
            <a:normAutofit/>
          </a:bodyPr>
          <a:lstStyle/>
          <a:p>
            <a:r>
              <a:rPr lang="en-US" b="1" kern="1200" cap="all" spc="0" baseline="0">
                <a:latin typeface="+mj-lt"/>
                <a:ea typeface="+mj-ea"/>
                <a:cs typeface="+mj-cs"/>
              </a:rPr>
              <a:t>Steps and models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59145A-E3D0-D7C2-ECF5-415FCA9A1279}"/>
              </a:ext>
            </a:extLst>
          </p:cNvPr>
          <p:cNvSpPr txBox="1"/>
          <p:nvPr/>
        </p:nvSpPr>
        <p:spPr>
          <a:xfrm>
            <a:off x="6531427" y="640080"/>
            <a:ext cx="5122889" cy="2103120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/>
          <a:p>
            <a:pPr>
              <a:spcBef>
                <a:spcPts val="1000"/>
              </a:spcBef>
              <a:buFont typeface="Arial" panose="020B0604020202020204" pitchFamily="34" charset="0"/>
            </a:pPr>
            <a:r>
              <a:rPr lang="en-US" b="1"/>
              <a:t>"sklearn.feature_selection.SelectKBest."</a:t>
            </a:r>
            <a:r>
              <a:rPr lang="en-US"/>
              <a:t> </a:t>
            </a:r>
            <a:r>
              <a:rPr lang="en-US" i="1"/>
              <a:t>scikit-learn: Machine Learning in Python</a:t>
            </a:r>
            <a:r>
              <a:rPr lang="en-US"/>
              <a:t>, scikit-learn.org/stable/modules/generated/sklearn.feature_selection.SelectKBest.html. Accessed 14 Apr. 2025.</a:t>
            </a:r>
          </a:p>
        </p:txBody>
      </p:sp>
      <p:graphicFrame>
        <p:nvGraphicFramePr>
          <p:cNvPr id="12" name="TextBox 9">
            <a:extLst>
              <a:ext uri="{FF2B5EF4-FFF2-40B4-BE49-F238E27FC236}">
                <a16:creationId xmlns:a16="http://schemas.microsoft.com/office/drawing/2014/main" id="{E6E10D76-4923-8034-EABE-E415478C7B4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32432678"/>
              </p:ext>
            </p:extLst>
          </p:nvPr>
        </p:nvGraphicFramePr>
        <p:xfrm>
          <a:off x="1280160" y="3017520"/>
          <a:ext cx="10374152" cy="32088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491921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690769E-8B38-0B8F-8DD9-32BA31D5F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923" y="552101"/>
            <a:ext cx="4673046" cy="762000"/>
          </a:xfrm>
        </p:spPr>
        <p:txBody>
          <a:bodyPr/>
          <a:lstStyle/>
          <a:p>
            <a:r>
              <a:rPr lang="en-US" dirty="0" err="1"/>
              <a:t>GridSearchCV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DED6AD5-48E0-83E2-455C-5D0E5ECBCCB4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822961" y="1229359"/>
            <a:ext cx="4759008" cy="469246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/>
              <a:t>Tuning Decision Tree...</a:t>
            </a:r>
          </a:p>
          <a:p>
            <a:r>
              <a:rPr lang="en-US" sz="1800" dirty="0"/>
              <a:t>✅ Best Params for Decision Tree: {'</a:t>
            </a:r>
            <a:r>
              <a:rPr lang="en-US" sz="1800" dirty="0" err="1"/>
              <a:t>max_depth</a:t>
            </a:r>
            <a:r>
              <a:rPr lang="en-US" sz="1800" dirty="0"/>
              <a:t>': 3}</a:t>
            </a:r>
          </a:p>
          <a:p>
            <a:r>
              <a:rPr lang="en-US" sz="1800" dirty="0"/>
              <a:t>🎯 Accuracy: 0.3158</a:t>
            </a:r>
          </a:p>
          <a:p>
            <a:pPr marL="0" indent="0">
              <a:buNone/>
            </a:pPr>
            <a:r>
              <a:rPr lang="en-US" sz="1800" b="1" dirty="0"/>
              <a:t>Tuning Random Forest...</a:t>
            </a:r>
          </a:p>
          <a:p>
            <a:r>
              <a:rPr lang="en-US" sz="1800" dirty="0"/>
              <a:t>✅ Best Params for Random Forest: {'</a:t>
            </a:r>
            <a:r>
              <a:rPr lang="en-US" sz="1800" dirty="0" err="1"/>
              <a:t>max_depth</a:t>
            </a:r>
            <a:r>
              <a:rPr lang="en-US" sz="1800" dirty="0"/>
              <a:t>': 5, '</a:t>
            </a:r>
            <a:r>
              <a:rPr lang="en-US" sz="1800" dirty="0" err="1"/>
              <a:t>n_estimators</a:t>
            </a:r>
            <a:r>
              <a:rPr lang="en-US" sz="1800" dirty="0"/>
              <a:t>': 100}</a:t>
            </a:r>
          </a:p>
          <a:p>
            <a:r>
              <a:rPr lang="en-US" sz="1800" dirty="0"/>
              <a:t>🎯 Accuracy: 0.3421</a:t>
            </a:r>
          </a:p>
          <a:p>
            <a:pPr marL="0" indent="0">
              <a:buNone/>
            </a:pPr>
            <a:r>
              <a:rPr lang="en-US" sz="1800" b="1" dirty="0"/>
              <a:t>Tuning Gradient Boosting...</a:t>
            </a:r>
          </a:p>
          <a:p>
            <a:r>
              <a:rPr lang="en-US" sz="1800" dirty="0"/>
              <a:t>✅ Best Params for Gradient Boosting: {'</a:t>
            </a:r>
            <a:r>
              <a:rPr lang="en-US" sz="1800" dirty="0" err="1"/>
              <a:t>learning_rate</a:t>
            </a:r>
            <a:r>
              <a:rPr lang="en-US" sz="1800" dirty="0"/>
              <a:t>': 0.01, '</a:t>
            </a:r>
            <a:r>
              <a:rPr lang="en-US" sz="1800" dirty="0" err="1"/>
              <a:t>max_depth</a:t>
            </a:r>
            <a:r>
              <a:rPr lang="en-US" sz="1800" dirty="0"/>
              <a:t>': 1, '</a:t>
            </a:r>
            <a:r>
              <a:rPr lang="en-US" sz="1800" dirty="0" err="1"/>
              <a:t>n_estimators</a:t>
            </a:r>
            <a:r>
              <a:rPr lang="en-US" sz="1800" dirty="0"/>
              <a:t>': 20}</a:t>
            </a:r>
          </a:p>
          <a:p>
            <a:r>
              <a:rPr lang="en-US" sz="1800" dirty="0"/>
              <a:t>🎯 Accuracy: 0.3421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D2A4C-C845-A151-354E-CE5D2E61CD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1968" y="1607287"/>
            <a:ext cx="6610032" cy="3936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5823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F9019-7D5A-6831-C37E-BB05732FD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9C21B79-95E0-6294-EF95-5C9BB95A85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Regression: CIGMDAYS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4D5C53-C88A-1F20-9BAF-CA7F36FCBF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5902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9F87C-8AF1-CF7E-99E5-DDFCF07E9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6F10-E1A3-966A-A3A6-D897CA58C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Regression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15179F50-53CD-62D3-FA06-FE843CF6EE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95772" y="1661369"/>
            <a:ext cx="5374640" cy="1190033"/>
          </a:xfrm>
        </p:spPr>
        <p:txBody>
          <a:bodyPr/>
          <a:lstStyle/>
          <a:p>
            <a:r>
              <a:rPr lang="en-US" sz="2400" b="1" dirty="0"/>
              <a:t>Regression</a:t>
            </a:r>
            <a:r>
              <a:rPr lang="en-US" sz="2400" dirty="0"/>
              <a:t> is a type of supervised learning used when the </a:t>
            </a:r>
            <a:r>
              <a:rPr lang="en-US" sz="2400" b="1" dirty="0"/>
              <a:t>target variable is continuous.</a:t>
            </a:r>
            <a:endParaRPr 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CE2E9F-DE00-FFED-0140-51F9BE482DBA}"/>
              </a:ext>
            </a:extLst>
          </p:cNvPr>
          <p:cNvSpPr txBox="1"/>
          <p:nvPr/>
        </p:nvSpPr>
        <p:spPr>
          <a:xfrm>
            <a:off x="819572" y="3198665"/>
            <a:ext cx="54508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How many days per month does a youth smoke cigarettes?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97B397-940F-A601-6F58-54F74DBF9DFF}"/>
              </a:ext>
            </a:extLst>
          </p:cNvPr>
          <p:cNvSpPr txBox="1"/>
          <p:nvPr/>
        </p:nvSpPr>
        <p:spPr>
          <a:xfrm>
            <a:off x="748452" y="5291880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Evaluation Metrics: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Accuracy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Precision / Recall / F1-score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MSE/MAE and R2</a:t>
            </a:r>
          </a:p>
        </p:txBody>
      </p:sp>
    </p:spTree>
    <p:extLst>
      <p:ext uri="{BB962C8B-B14F-4D97-AF65-F5344CB8AC3E}">
        <p14:creationId xmlns:p14="http://schemas.microsoft.com/office/powerpoint/2010/main" val="40465674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D5ABD-BF52-32A2-0747-6E66CBC10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269C5-A0DE-F52A-A4BB-F276ACE5C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640080"/>
            <a:ext cx="4815836" cy="2103120"/>
          </a:xfrm>
        </p:spPr>
        <p:txBody>
          <a:bodyPr vert="horz" lIns="0" tIns="0" rIns="0" bIns="0" rtlCol="0" anchor="ctr" anchorCtr="0">
            <a:normAutofit/>
          </a:bodyPr>
          <a:lstStyle/>
          <a:p>
            <a:r>
              <a:rPr lang="en-US" b="1" kern="1200" cap="all" spc="0" baseline="0">
                <a:latin typeface="+mj-lt"/>
                <a:ea typeface="+mj-ea"/>
                <a:cs typeface="+mj-cs"/>
              </a:rPr>
              <a:t>Steps and models</a:t>
            </a:r>
          </a:p>
        </p:txBody>
      </p:sp>
      <p:graphicFrame>
        <p:nvGraphicFramePr>
          <p:cNvPr id="12" name="TextBox 9">
            <a:extLst>
              <a:ext uri="{FF2B5EF4-FFF2-40B4-BE49-F238E27FC236}">
                <a16:creationId xmlns:a16="http://schemas.microsoft.com/office/drawing/2014/main" id="{77B37C60-53A7-1E8F-530A-852D32A0F2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93715083"/>
              </p:ext>
            </p:extLst>
          </p:nvPr>
        </p:nvGraphicFramePr>
        <p:xfrm>
          <a:off x="1280160" y="3017520"/>
          <a:ext cx="10374152" cy="32088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008049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D45A6-1655-1F5A-D28E-CD5A81E77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DA57320-E628-D653-D4CE-04D29C6B5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923" y="552101"/>
            <a:ext cx="4673046" cy="762000"/>
          </a:xfrm>
        </p:spPr>
        <p:txBody>
          <a:bodyPr/>
          <a:lstStyle/>
          <a:p>
            <a:r>
              <a:rPr lang="en-US" dirty="0" err="1"/>
              <a:t>GridSearchCV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DDE1B9F-E1F1-6230-49B2-6E2AD5DA4AE7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822961" y="1229359"/>
            <a:ext cx="4759008" cy="469246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/>
              <a:t>Regression Model Evaluation:</a:t>
            </a:r>
          </a:p>
          <a:p>
            <a:pPr marL="0" indent="0">
              <a:buNone/>
            </a:pPr>
            <a:r>
              <a:rPr lang="en-US" sz="1800" b="1" dirty="0"/>
              <a:t>Decision Tree</a:t>
            </a:r>
          </a:p>
          <a:p>
            <a:r>
              <a:rPr lang="en-US" sz="1800" dirty="0"/>
              <a:t>R² Score: 0.0057</a:t>
            </a:r>
          </a:p>
          <a:p>
            <a:r>
              <a:rPr lang="en-US" sz="1800" dirty="0"/>
              <a:t>MAE: 0.1116</a:t>
            </a:r>
          </a:p>
          <a:p>
            <a:r>
              <a:rPr lang="en-US" sz="1800" dirty="0"/>
              <a:t>RMSE: 0.5079</a:t>
            </a:r>
          </a:p>
          <a:p>
            <a:pPr marL="0" indent="0">
              <a:buNone/>
            </a:pPr>
            <a:r>
              <a:rPr lang="en-US" sz="1800" b="1" dirty="0"/>
              <a:t>Random Forest</a:t>
            </a:r>
          </a:p>
          <a:p>
            <a:r>
              <a:rPr lang="en-US" sz="1800" dirty="0"/>
              <a:t>R² Score: 0.0138</a:t>
            </a:r>
          </a:p>
          <a:p>
            <a:r>
              <a:rPr lang="en-US" sz="1800" dirty="0"/>
              <a:t>MAE: 0.1110</a:t>
            </a:r>
          </a:p>
          <a:p>
            <a:r>
              <a:rPr lang="en-US" sz="1800" dirty="0"/>
              <a:t>RMSE: 0.5058</a:t>
            </a:r>
          </a:p>
          <a:p>
            <a:pPr marL="0" indent="0">
              <a:buNone/>
            </a:pPr>
            <a:r>
              <a:rPr lang="en-US" sz="1800" b="1" dirty="0"/>
              <a:t>Gradient Boosting</a:t>
            </a:r>
          </a:p>
          <a:p>
            <a:r>
              <a:rPr lang="en-US" sz="1800" dirty="0"/>
              <a:t> R² Score: 0.0200</a:t>
            </a:r>
          </a:p>
          <a:p>
            <a:r>
              <a:rPr lang="en-US" sz="1800" dirty="0"/>
              <a:t> MAE: 0.1141</a:t>
            </a:r>
          </a:p>
          <a:p>
            <a:r>
              <a:rPr lang="en-US" sz="1800" dirty="0"/>
              <a:t> RMSE: 0.5042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209940-8C86-AF87-1B39-1D85BF2D6F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321" y="2079172"/>
            <a:ext cx="6918048" cy="4127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3159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AB9AE2F-BBEB-B670-DC2A-CEEA473213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578059"/>
              </p:ext>
            </p:extLst>
          </p:nvPr>
        </p:nvGraphicFramePr>
        <p:xfrm>
          <a:off x="1259840" y="1691640"/>
          <a:ext cx="10322562" cy="427228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564640">
                  <a:extLst>
                    <a:ext uri="{9D8B030D-6E8A-4147-A177-3AD203B41FA5}">
                      <a16:colId xmlns:a16="http://schemas.microsoft.com/office/drawing/2014/main" val="3256350929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712484225"/>
                    </a:ext>
                  </a:extLst>
                </a:gridCol>
                <a:gridCol w="1869441">
                  <a:extLst>
                    <a:ext uri="{9D8B030D-6E8A-4147-A177-3AD203B41FA5}">
                      <a16:colId xmlns:a16="http://schemas.microsoft.com/office/drawing/2014/main" val="3927926465"/>
                    </a:ext>
                  </a:extLst>
                </a:gridCol>
                <a:gridCol w="1720427">
                  <a:extLst>
                    <a:ext uri="{9D8B030D-6E8A-4147-A177-3AD203B41FA5}">
                      <a16:colId xmlns:a16="http://schemas.microsoft.com/office/drawing/2014/main" val="4205537970"/>
                    </a:ext>
                  </a:extLst>
                </a:gridCol>
                <a:gridCol w="1720427">
                  <a:extLst>
                    <a:ext uri="{9D8B030D-6E8A-4147-A177-3AD203B41FA5}">
                      <a16:colId xmlns:a16="http://schemas.microsoft.com/office/drawing/2014/main" val="3431402782"/>
                    </a:ext>
                  </a:extLst>
                </a:gridCol>
                <a:gridCol w="1720427">
                  <a:extLst>
                    <a:ext uri="{9D8B030D-6E8A-4147-A177-3AD203B41FA5}">
                      <a16:colId xmlns:a16="http://schemas.microsoft.com/office/drawing/2014/main" val="1544052052"/>
                    </a:ext>
                  </a:extLst>
                </a:gridCol>
              </a:tblGrid>
              <a:tr h="1068070">
                <a:tc>
                  <a:txBody>
                    <a:bodyPr/>
                    <a:lstStyle/>
                    <a:p>
                      <a:r>
                        <a:rPr lang="en-US" sz="1800" dirty="0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Interpretability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Speed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Overfitting Risk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Tuning Needed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7106853"/>
                  </a:ext>
                </a:extLst>
              </a:tr>
              <a:tr h="1068070">
                <a:tc>
                  <a:txBody>
                    <a:bodyPr/>
                    <a:lstStyle/>
                    <a:p>
                      <a:r>
                        <a:rPr lang="en-US" sz="1800" dirty="0"/>
                        <a:t>Decision Tree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🟡 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🟢 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🟢 Fast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🔴 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🟢 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3261367"/>
                  </a:ext>
                </a:extLst>
              </a:tr>
              <a:tr h="1068070">
                <a:tc>
                  <a:txBody>
                    <a:bodyPr/>
                    <a:lstStyle/>
                    <a:p>
                      <a:r>
                        <a:rPr lang="en-US" sz="1800" dirty="0"/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🟢 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🟡 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🟡 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🟢 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🟡 Medium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987607"/>
                  </a:ext>
                </a:extLst>
              </a:tr>
              <a:tr h="1068070">
                <a:tc>
                  <a:txBody>
                    <a:bodyPr/>
                    <a:lstStyle/>
                    <a:p>
                      <a:r>
                        <a:rPr lang="en-US" sz="1800" dirty="0"/>
                        <a:t>Gradient Boosting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🟢 Very 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🔴 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🔴 Slow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🟡 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🔴 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7808714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D7DD27F5-7009-A418-8D26-3EA2679EA7FD}"/>
              </a:ext>
            </a:extLst>
          </p:cNvPr>
          <p:cNvSpPr txBox="1"/>
          <p:nvPr/>
        </p:nvSpPr>
        <p:spPr>
          <a:xfrm>
            <a:off x="3180081" y="598865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/>
              <a:t>Summary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7486602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5D893-E98A-260A-9EC4-B9365E533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96" y="1586702"/>
            <a:ext cx="8965094" cy="2276856"/>
          </a:xfrm>
        </p:spPr>
        <p:txBody>
          <a:bodyPr/>
          <a:lstStyle/>
          <a:p>
            <a:r>
              <a:rPr lang="en-US" sz="8800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70D88C-5989-4007-4953-F54A4A34B7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40609" y="3127248"/>
            <a:ext cx="6117381" cy="301752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949180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axy presentation_Win32_SL_V16" id="{36B34AD0-AFC2-468E-8620-6CFD159B149F}" vid="{ACCF8893-1A0E-437D-A612-1659D305EA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0E87F72-70BF-43BC-A0D4-53665DC1267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FABD9919-8F5A-4B99-83E1-E90FE1DCF2E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D646E0-DCC8-4209-B539-AA58186B682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{6D531A54-B18B-4CAA-88D5-1CAAAA6DB4AE}tf89338750_win32</Template>
  <TotalTime>4579</TotalTime>
  <Words>1242</Words>
  <Application>Microsoft Office PowerPoint</Application>
  <PresentationFormat>Widescreen</PresentationFormat>
  <Paragraphs>208</Paragraphs>
  <Slides>26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Arial Black</vt:lpstr>
      <vt:lpstr>Arial Unicode MS</vt:lpstr>
      <vt:lpstr>Calibri</vt:lpstr>
      <vt:lpstr>IBM Plex Sans</vt:lpstr>
      <vt:lpstr>Univers</vt:lpstr>
      <vt:lpstr>GradientVTI</vt:lpstr>
      <vt:lpstr>Exploring Youth Drug Use with Decision Trees</vt:lpstr>
      <vt:lpstr>Research Questions</vt:lpstr>
      <vt:lpstr>Dataset Overview</vt:lpstr>
      <vt:lpstr>Modeling Approach</vt:lpstr>
      <vt:lpstr>PowerPoint Presentation</vt:lpstr>
      <vt:lpstr>Binary Classification (ALCFLAG)</vt:lpstr>
      <vt:lpstr>PowerPoint Presentation</vt:lpstr>
      <vt:lpstr>PowerPoint Presentation</vt:lpstr>
      <vt:lpstr>PowerPoint Presentation</vt:lpstr>
      <vt:lpstr>Understandable Tree</vt:lpstr>
      <vt:lpstr>PowerPoint Presentation</vt:lpstr>
      <vt:lpstr>Compare the RF and DT</vt:lpstr>
      <vt:lpstr>Gini Impurity</vt:lpstr>
      <vt:lpstr>Multi-class Classification: IRCIGFM</vt:lpstr>
      <vt:lpstr>Multi-class classification</vt:lpstr>
      <vt:lpstr>PowerPoint Presentation</vt:lpstr>
      <vt:lpstr>Difference Between </vt:lpstr>
      <vt:lpstr>Grid Search-CV</vt:lpstr>
      <vt:lpstr>Steps and models</vt:lpstr>
      <vt:lpstr>GridSearchCV</vt:lpstr>
      <vt:lpstr>Regression: CIGMDAYS</vt:lpstr>
      <vt:lpstr>Regression</vt:lpstr>
      <vt:lpstr>Steps and models</vt:lpstr>
      <vt:lpstr>GridSearchCV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Surya Kailash Ramesh</dc:creator>
  <cp:lastModifiedBy>Surya Kailash Ramesh</cp:lastModifiedBy>
  <cp:revision>2</cp:revision>
  <dcterms:created xsi:type="dcterms:W3CDTF">2025-04-12T16:02:22Z</dcterms:created>
  <dcterms:modified xsi:type="dcterms:W3CDTF">2025-04-15T20:22:20Z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